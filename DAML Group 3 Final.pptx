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5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6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sldIdLst>
    <p:sldId id="256" r:id="rId2"/>
    <p:sldId id="258" r:id="rId3"/>
    <p:sldId id="257" r:id="rId4"/>
    <p:sldId id="259" r:id="rId5"/>
    <p:sldId id="260" r:id="rId6"/>
    <p:sldId id="261" r:id="rId7"/>
    <p:sldId id="265" r:id="rId8"/>
    <p:sldId id="267" r:id="rId9"/>
    <p:sldId id="269" r:id="rId10"/>
    <p:sldId id="270" r:id="rId11"/>
    <p:sldId id="271" r:id="rId12"/>
    <p:sldId id="273" r:id="rId13"/>
    <p:sldId id="276" r:id="rId14"/>
    <p:sldId id="277" r:id="rId15"/>
    <p:sldId id="27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5D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5" autoAdjust="0"/>
    <p:restoredTop sz="97043" autoAdjust="0"/>
  </p:normalViewPr>
  <p:slideViewPr>
    <p:cSldViewPr snapToGrid="0">
      <p:cViewPr varScale="1">
        <p:scale>
          <a:sx n="67" d="100"/>
          <a:sy n="67" d="100"/>
        </p:scale>
        <p:origin x="53" y="15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jessemostipak/hotel-booking-demand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jessemostipak/hotel-booking-demand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D5F604B-3D40-4536-948D-97EA829C8A6A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519FF8B-4394-408C-AABB-B277B0C15EC5}">
      <dgm:prSet/>
      <dgm:spPr/>
      <dgm:t>
        <a:bodyPr/>
        <a:lstStyle/>
        <a:p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Why hotel cancellations are a serious problem?</a:t>
          </a:r>
          <a:b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Cancellations create empty rooms and direct revenue loss</a:t>
          </a:r>
          <a:b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Last minute cancellations are the most damaging because the room is hard to resell</a:t>
          </a:r>
          <a:b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-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Over booking can protect revenue but can also hurt guest experience if too aggressive</a:t>
          </a:r>
          <a:b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-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A smart prediction model can help the hotel strike a better balance between revenue and service quality</a:t>
          </a:r>
        </a:p>
      </dgm:t>
    </dgm:pt>
    <dgm:pt modelId="{8CA3B65F-9DCB-4009-BC99-21997DB24E6C}" type="parTrans" cxnId="{3C466394-E8E8-461D-8DFE-2DF6A05723F1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5F8130F-786F-474C-B9B0-D3F26C5D37B9}" type="sibTrans" cxnId="{3C466394-E8E8-461D-8DFE-2DF6A05723F1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FDE926F4-1F46-4D7A-986A-5BA4D080F343}">
      <dgm:prSet/>
      <dgm:spPr/>
      <dgm:t>
        <a:bodyPr/>
        <a:lstStyle/>
        <a:p>
          <a:r>
            <a:rPr lang="en-US" b="1">
              <a:solidFill>
                <a:schemeClr val="tx2">
                  <a:lumMod val="60000"/>
                  <a:lumOff val="40000"/>
                </a:schemeClr>
              </a:solidFill>
            </a:rPr>
            <a:t>Our Question</a:t>
          </a:r>
          <a:br>
            <a:rPr lang="en-US" b="1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b="1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>
              <a:solidFill>
                <a:schemeClr val="tx2">
                  <a:lumMod val="60000"/>
                  <a:lumOff val="40000"/>
                </a:schemeClr>
              </a:solidFill>
            </a:rPr>
            <a:t>Can we predict at booking time whether a reservation is likely to cancel</a:t>
          </a:r>
        </a:p>
      </dgm:t>
    </dgm:pt>
    <dgm:pt modelId="{239DC98C-EAE5-4A56-B8BA-84FBCF8235EE}" type="parTrans" cxnId="{4561E59A-12E6-4F3F-9ACB-5E3599E98BDB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917C4B4D-3C53-4FB8-B875-E0E61185AA65}" type="sibTrans" cxnId="{4561E59A-12E6-4F3F-9ACB-5E3599E98BDB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5601EC4-AFE5-4824-B4A3-0010038CE696}" type="pres">
      <dgm:prSet presAssocID="{6D5F604B-3D40-4536-948D-97EA829C8A6A}" presName="vert0" presStyleCnt="0">
        <dgm:presLayoutVars>
          <dgm:dir/>
          <dgm:animOne val="branch"/>
          <dgm:animLvl val="lvl"/>
        </dgm:presLayoutVars>
      </dgm:prSet>
      <dgm:spPr/>
    </dgm:pt>
    <dgm:pt modelId="{9497AB66-7879-41CC-8EA4-DF64E4ECEFB9}" type="pres">
      <dgm:prSet presAssocID="{0519FF8B-4394-408C-AABB-B277B0C15EC5}" presName="thickLine" presStyleLbl="alignNode1" presStyleIdx="0" presStyleCnt="2"/>
      <dgm:spPr/>
    </dgm:pt>
    <dgm:pt modelId="{87528E5E-EFFC-4A27-9E02-A5F47C6DFF0D}" type="pres">
      <dgm:prSet presAssocID="{0519FF8B-4394-408C-AABB-B277B0C15EC5}" presName="horz1" presStyleCnt="0"/>
      <dgm:spPr/>
    </dgm:pt>
    <dgm:pt modelId="{20262828-FEEC-4C5D-98EB-D8D07442F3F4}" type="pres">
      <dgm:prSet presAssocID="{0519FF8B-4394-408C-AABB-B277B0C15EC5}" presName="tx1" presStyleLbl="revTx" presStyleIdx="0" presStyleCnt="2"/>
      <dgm:spPr/>
    </dgm:pt>
    <dgm:pt modelId="{896ABCD5-F084-40F7-99CC-AC736039B953}" type="pres">
      <dgm:prSet presAssocID="{0519FF8B-4394-408C-AABB-B277B0C15EC5}" presName="vert1" presStyleCnt="0"/>
      <dgm:spPr/>
    </dgm:pt>
    <dgm:pt modelId="{140C8A4B-909F-49EC-A1AB-1ED0262BAA76}" type="pres">
      <dgm:prSet presAssocID="{FDE926F4-1F46-4D7A-986A-5BA4D080F343}" presName="thickLine" presStyleLbl="alignNode1" presStyleIdx="1" presStyleCnt="2"/>
      <dgm:spPr/>
    </dgm:pt>
    <dgm:pt modelId="{32FC336A-2805-42C8-9410-EBC8E82DFF26}" type="pres">
      <dgm:prSet presAssocID="{FDE926F4-1F46-4D7A-986A-5BA4D080F343}" presName="horz1" presStyleCnt="0"/>
      <dgm:spPr/>
    </dgm:pt>
    <dgm:pt modelId="{B23DF98E-46B2-40E9-886A-1B27BF41EE88}" type="pres">
      <dgm:prSet presAssocID="{FDE926F4-1F46-4D7A-986A-5BA4D080F343}" presName="tx1" presStyleLbl="revTx" presStyleIdx="1" presStyleCnt="2"/>
      <dgm:spPr/>
    </dgm:pt>
    <dgm:pt modelId="{0192C544-2827-4865-BF61-43C8BD6487BF}" type="pres">
      <dgm:prSet presAssocID="{FDE926F4-1F46-4D7A-986A-5BA4D080F343}" presName="vert1" presStyleCnt="0"/>
      <dgm:spPr/>
    </dgm:pt>
  </dgm:ptLst>
  <dgm:cxnLst>
    <dgm:cxn modelId="{478E318D-9C67-409B-A665-2A4DC02AFBB5}" type="presOf" srcId="{FDE926F4-1F46-4D7A-986A-5BA4D080F343}" destId="{B23DF98E-46B2-40E9-886A-1B27BF41EE88}" srcOrd="0" destOrd="0" presId="urn:microsoft.com/office/officeart/2008/layout/LinedList"/>
    <dgm:cxn modelId="{3C466394-E8E8-461D-8DFE-2DF6A05723F1}" srcId="{6D5F604B-3D40-4536-948D-97EA829C8A6A}" destId="{0519FF8B-4394-408C-AABB-B277B0C15EC5}" srcOrd="0" destOrd="0" parTransId="{8CA3B65F-9DCB-4009-BC99-21997DB24E6C}" sibTransId="{85F8130F-786F-474C-B9B0-D3F26C5D37B9}"/>
    <dgm:cxn modelId="{4561E59A-12E6-4F3F-9ACB-5E3599E98BDB}" srcId="{6D5F604B-3D40-4536-948D-97EA829C8A6A}" destId="{FDE926F4-1F46-4D7A-986A-5BA4D080F343}" srcOrd="1" destOrd="0" parTransId="{239DC98C-EAE5-4A56-B8BA-84FBCF8235EE}" sibTransId="{917C4B4D-3C53-4FB8-B875-E0E61185AA65}"/>
    <dgm:cxn modelId="{E1EE5CA5-1CD3-4106-8FEC-6771D41D61DE}" type="presOf" srcId="{6D5F604B-3D40-4536-948D-97EA829C8A6A}" destId="{75601EC4-AFE5-4824-B4A3-0010038CE696}" srcOrd="0" destOrd="0" presId="urn:microsoft.com/office/officeart/2008/layout/LinedList"/>
    <dgm:cxn modelId="{C7ACE8D8-13B3-41FA-B9B5-EA334DEEBC21}" type="presOf" srcId="{0519FF8B-4394-408C-AABB-B277B0C15EC5}" destId="{20262828-FEEC-4C5D-98EB-D8D07442F3F4}" srcOrd="0" destOrd="0" presId="urn:microsoft.com/office/officeart/2008/layout/LinedList"/>
    <dgm:cxn modelId="{2A46D7AB-5383-43C9-9265-C6F684931063}" type="presParOf" srcId="{75601EC4-AFE5-4824-B4A3-0010038CE696}" destId="{9497AB66-7879-41CC-8EA4-DF64E4ECEFB9}" srcOrd="0" destOrd="0" presId="urn:microsoft.com/office/officeart/2008/layout/LinedList"/>
    <dgm:cxn modelId="{335A16AA-4623-434C-A3BE-AFF793AE0B4F}" type="presParOf" srcId="{75601EC4-AFE5-4824-B4A3-0010038CE696}" destId="{87528E5E-EFFC-4A27-9E02-A5F47C6DFF0D}" srcOrd="1" destOrd="0" presId="urn:microsoft.com/office/officeart/2008/layout/LinedList"/>
    <dgm:cxn modelId="{D2AE3D56-8DD2-4549-BE80-5384BA536173}" type="presParOf" srcId="{87528E5E-EFFC-4A27-9E02-A5F47C6DFF0D}" destId="{20262828-FEEC-4C5D-98EB-D8D07442F3F4}" srcOrd="0" destOrd="0" presId="urn:microsoft.com/office/officeart/2008/layout/LinedList"/>
    <dgm:cxn modelId="{000257A3-939F-4074-9AB9-8DCA59B2FFF6}" type="presParOf" srcId="{87528E5E-EFFC-4A27-9E02-A5F47C6DFF0D}" destId="{896ABCD5-F084-40F7-99CC-AC736039B953}" srcOrd="1" destOrd="0" presId="urn:microsoft.com/office/officeart/2008/layout/LinedList"/>
    <dgm:cxn modelId="{1685D9C6-55A8-46EE-BF2A-629C81E693DF}" type="presParOf" srcId="{75601EC4-AFE5-4824-B4A3-0010038CE696}" destId="{140C8A4B-909F-49EC-A1AB-1ED0262BAA76}" srcOrd="2" destOrd="0" presId="urn:microsoft.com/office/officeart/2008/layout/LinedList"/>
    <dgm:cxn modelId="{B7495EFA-8AA5-4FB7-866C-004D09F08250}" type="presParOf" srcId="{75601EC4-AFE5-4824-B4A3-0010038CE696}" destId="{32FC336A-2805-42C8-9410-EBC8E82DFF26}" srcOrd="3" destOrd="0" presId="urn:microsoft.com/office/officeart/2008/layout/LinedList"/>
    <dgm:cxn modelId="{E8D16998-7AD9-4B3C-BD01-91748584B374}" type="presParOf" srcId="{32FC336A-2805-42C8-9410-EBC8E82DFF26}" destId="{B23DF98E-46B2-40E9-886A-1B27BF41EE88}" srcOrd="0" destOrd="0" presId="urn:microsoft.com/office/officeart/2008/layout/LinedList"/>
    <dgm:cxn modelId="{FE073FFE-8F25-44D6-857B-A964844192E3}" type="presParOf" srcId="{32FC336A-2805-42C8-9410-EBC8E82DFF26}" destId="{0192C544-2827-4865-BF61-43C8BD6487B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F4AED4F-F3AF-48AF-8921-B20ECAA6DE62}">
      <dgm:prSet/>
      <dgm:spPr/>
      <dgm:t>
        <a:bodyPr/>
        <a:lstStyle/>
        <a:p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Data Source - </a:t>
          </a:r>
          <a:r>
            <a:rPr lang="en-US" i="1" dirty="0">
              <a:solidFill>
                <a:schemeClr val="tx2">
                  <a:lumMod val="60000"/>
                  <a:lumOff val="40000"/>
                </a:schemeClr>
              </a:solidFill>
            </a:rPr>
            <a:t>Hotel Booking Demand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data set from 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Kaggle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created by </a:t>
          </a:r>
          <a:r>
            <a:rPr lang="en-US" i="1" dirty="0">
              <a:solidFill>
                <a:schemeClr val="tx2">
                  <a:lumMod val="60000"/>
                  <a:lumOff val="40000"/>
                </a:schemeClr>
              </a:solidFill>
            </a:rPr>
            <a:t>Jesse </a:t>
          </a:r>
          <a:r>
            <a:rPr lang="en-US" i="1" dirty="0" err="1">
              <a:solidFill>
                <a:schemeClr val="tx2">
                  <a:lumMod val="60000"/>
                  <a:lumOff val="40000"/>
                </a:schemeClr>
              </a:solidFill>
            </a:rPr>
            <a:t>Mostipak</a:t>
          </a:r>
          <a:endParaRPr lang="en-US" dirty="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/>
      <dgm:spPr/>
      <dgm:t>
        <a:bodyPr/>
        <a:lstStyle/>
        <a:p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Scope – 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119,390 Reservations combining from a city hotel and a resort hotel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588C9B9-9D29-42D9-AD52-61726AAF93D4}">
      <dgm:prSet/>
      <dgm:spPr/>
      <dgm:t>
        <a:bodyPr/>
        <a:lstStyle/>
        <a:p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Structure – 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32 Variable describing arrival dates, length of stay, number of adults, children and babies, meal plan, country, market segment, distribution channel, customer type, price and booking history</a:t>
          </a:r>
        </a:p>
      </dgm:t>
    </dgm:pt>
    <dgm:pt modelId="{EC52EF3C-F953-423B-A626-38A5C9F35358}" type="parTrans" cxnId="{BE1C70FD-5C18-47F8-AFFB-A1F0BF997B80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D572E80-67C1-48FD-831D-E4120ED97096}" type="sibTrans" cxnId="{BE1C70FD-5C18-47F8-AFFB-A1F0BF997B80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A4A14B6E-6A8D-4438-B9A6-52717CFEEE75}">
      <dgm:prSet/>
      <dgm:spPr/>
      <dgm:t>
        <a:bodyPr/>
        <a:lstStyle/>
        <a:p>
          <a:r>
            <a:rPr lang="en-US" b="1" dirty="0">
              <a:solidFill>
                <a:schemeClr val="tx2">
                  <a:lumMod val="60000"/>
                  <a:lumOff val="40000"/>
                </a:schemeClr>
              </a:solidFill>
            </a:rPr>
            <a:t>Target Variable - </a:t>
          </a:r>
          <a:r>
            <a:rPr lang="en-US" dirty="0" err="1">
              <a:solidFill>
                <a:schemeClr val="tx2">
                  <a:lumMod val="60000"/>
                  <a:lumOff val="40000"/>
                </a:schemeClr>
              </a:solidFill>
            </a:rPr>
            <a:t>is_canceled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= 0 is Reservation not cancelled, </a:t>
          </a:r>
          <a:r>
            <a:rPr lang="en-US" dirty="0" err="1">
              <a:solidFill>
                <a:schemeClr val="tx2">
                  <a:lumMod val="60000"/>
                  <a:lumOff val="40000"/>
                </a:schemeClr>
              </a:solidFill>
            </a:rPr>
            <a:t>is_canceled</a:t>
          </a:r>
          <a:r>
            <a:rPr lang="en-US" dirty="0">
              <a:solidFill>
                <a:schemeClr val="tx2">
                  <a:lumMod val="60000"/>
                  <a:lumOff val="40000"/>
                </a:schemeClr>
              </a:solidFill>
            </a:rPr>
            <a:t> = 1 is Reservation being cancelled</a:t>
          </a:r>
        </a:p>
      </dgm:t>
    </dgm:pt>
    <dgm:pt modelId="{09936264-362B-47CD-8833-D9B8C12CE4B5}" type="parTrans" cxnId="{D0BE1807-E809-451D-84FA-FFF17E3E6C74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451CA75-4A9B-4CE7-B30F-266325FDCA17}" type="sibTrans" cxnId="{D0BE1807-E809-451D-84FA-FFF17E3E6C74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01A800D9-E556-492B-9CFB-94D6F1A4130C}">
      <dgm:prSet/>
      <dgm:spPr/>
      <dgm:t>
        <a:bodyPr/>
        <a:lstStyle/>
        <a:p>
          <a:r>
            <a:rPr lang="en-US" b="1">
              <a:solidFill>
                <a:schemeClr val="tx2">
                  <a:lumMod val="60000"/>
                  <a:lumOff val="40000"/>
                </a:schemeClr>
              </a:solidFill>
            </a:rPr>
            <a:t>Class balance - </a:t>
          </a:r>
          <a:r>
            <a:rPr lang="en-US">
              <a:solidFill>
                <a:schemeClr val="tx2">
                  <a:lumMod val="60000"/>
                  <a:lumOff val="40000"/>
                </a:schemeClr>
              </a:solidFill>
            </a:rPr>
            <a:t>Roughly about one third of all bookings in the data set are cancelled and about two thirds are not cancelled, so the prediction problem has a moderately imbalanced target</a:t>
          </a:r>
        </a:p>
      </dgm:t>
    </dgm:pt>
    <dgm:pt modelId="{D4FC8100-DA0D-4C44-9D4B-7229DC664347}" type="parTrans" cxnId="{E07ED4D8-65CF-4CCF-91B5-F0FA4989D2C8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5806E123-6057-4A92-98CB-F3C196BF0D3E}" type="sibTrans" cxnId="{E07ED4D8-65CF-4CCF-91B5-F0FA4989D2C8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A667960E-D7ED-4908-B28A-1825F32FF32D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8DD9D425-7D0C-467E-BB0A-0810241B30E1}" type="pres">
      <dgm:prSet presAssocID="{EF4AED4F-F3AF-48AF-8921-B20ECAA6DE62}" presName="thickLine" presStyleLbl="alignNode1" presStyleIdx="0" presStyleCnt="5"/>
      <dgm:spPr/>
    </dgm:pt>
    <dgm:pt modelId="{FC379B83-8286-4E7D-A45E-B81F293C2492}" type="pres">
      <dgm:prSet presAssocID="{EF4AED4F-F3AF-48AF-8921-B20ECAA6DE62}" presName="horz1" presStyleCnt="0"/>
      <dgm:spPr/>
    </dgm:pt>
    <dgm:pt modelId="{81CDA56D-5C6F-47D0-BE0A-39C273E5669A}" type="pres">
      <dgm:prSet presAssocID="{EF4AED4F-F3AF-48AF-8921-B20ECAA6DE62}" presName="tx1" presStyleLbl="revTx" presStyleIdx="0" presStyleCnt="5"/>
      <dgm:spPr/>
    </dgm:pt>
    <dgm:pt modelId="{AC48A940-8C05-43B5-A044-15ADA1773FB7}" type="pres">
      <dgm:prSet presAssocID="{EF4AED4F-F3AF-48AF-8921-B20ECAA6DE62}" presName="vert1" presStyleCnt="0"/>
      <dgm:spPr/>
    </dgm:pt>
    <dgm:pt modelId="{F82FF8E0-9CA2-45A8-9D18-12F34CF86DDA}" type="pres">
      <dgm:prSet presAssocID="{4E5FB914-E438-43DB-845A-EA57C2E5BCE8}" presName="thickLine" presStyleLbl="alignNode1" presStyleIdx="1" presStyleCnt="5"/>
      <dgm:spPr/>
    </dgm:pt>
    <dgm:pt modelId="{954546CD-FF0C-4564-80E5-523E8A936196}" type="pres">
      <dgm:prSet presAssocID="{4E5FB914-E438-43DB-845A-EA57C2E5BCE8}" presName="horz1" presStyleCnt="0"/>
      <dgm:spPr/>
    </dgm:pt>
    <dgm:pt modelId="{74BD4ACF-825E-4D79-9804-D299A3309795}" type="pres">
      <dgm:prSet presAssocID="{4E5FB914-E438-43DB-845A-EA57C2E5BCE8}" presName="tx1" presStyleLbl="revTx" presStyleIdx="1" presStyleCnt="5"/>
      <dgm:spPr/>
    </dgm:pt>
    <dgm:pt modelId="{D46D6488-8F46-43D2-BD53-4B7FBFD7CB7F}" type="pres">
      <dgm:prSet presAssocID="{4E5FB914-E438-43DB-845A-EA57C2E5BCE8}" presName="vert1" presStyleCnt="0"/>
      <dgm:spPr/>
    </dgm:pt>
    <dgm:pt modelId="{8AA3EAD2-FDB3-4552-974C-248D810D5D07}" type="pres">
      <dgm:prSet presAssocID="{E588C9B9-9D29-42D9-AD52-61726AAF93D4}" presName="thickLine" presStyleLbl="alignNode1" presStyleIdx="2" presStyleCnt="5"/>
      <dgm:spPr/>
    </dgm:pt>
    <dgm:pt modelId="{B89B3C41-0107-49E6-A753-E0BB473DB5E5}" type="pres">
      <dgm:prSet presAssocID="{E588C9B9-9D29-42D9-AD52-61726AAF93D4}" presName="horz1" presStyleCnt="0"/>
      <dgm:spPr/>
    </dgm:pt>
    <dgm:pt modelId="{C8FCFAF7-45AB-410E-978E-F767F4055CEE}" type="pres">
      <dgm:prSet presAssocID="{E588C9B9-9D29-42D9-AD52-61726AAF93D4}" presName="tx1" presStyleLbl="revTx" presStyleIdx="2" presStyleCnt="5"/>
      <dgm:spPr/>
    </dgm:pt>
    <dgm:pt modelId="{2099C557-DA55-471B-9EE3-22A19AB6B140}" type="pres">
      <dgm:prSet presAssocID="{E588C9B9-9D29-42D9-AD52-61726AAF93D4}" presName="vert1" presStyleCnt="0"/>
      <dgm:spPr/>
    </dgm:pt>
    <dgm:pt modelId="{E8C1D4E9-6AEF-4707-8981-657D5A62A930}" type="pres">
      <dgm:prSet presAssocID="{A4A14B6E-6A8D-4438-B9A6-52717CFEEE75}" presName="thickLine" presStyleLbl="alignNode1" presStyleIdx="3" presStyleCnt="5"/>
      <dgm:spPr/>
    </dgm:pt>
    <dgm:pt modelId="{44CE8526-8357-48B7-98E8-7DA223C82878}" type="pres">
      <dgm:prSet presAssocID="{A4A14B6E-6A8D-4438-B9A6-52717CFEEE75}" presName="horz1" presStyleCnt="0"/>
      <dgm:spPr/>
    </dgm:pt>
    <dgm:pt modelId="{2B419382-D5A3-4BB7-A54B-2B857BC36F23}" type="pres">
      <dgm:prSet presAssocID="{A4A14B6E-6A8D-4438-B9A6-52717CFEEE75}" presName="tx1" presStyleLbl="revTx" presStyleIdx="3" presStyleCnt="5"/>
      <dgm:spPr/>
    </dgm:pt>
    <dgm:pt modelId="{10F6F703-037B-4649-AF7E-86DBA949611C}" type="pres">
      <dgm:prSet presAssocID="{A4A14B6E-6A8D-4438-B9A6-52717CFEEE75}" presName="vert1" presStyleCnt="0"/>
      <dgm:spPr/>
    </dgm:pt>
    <dgm:pt modelId="{A3F95DD4-F901-4AB5-9540-118B55F4CB7B}" type="pres">
      <dgm:prSet presAssocID="{01A800D9-E556-492B-9CFB-94D6F1A4130C}" presName="thickLine" presStyleLbl="alignNode1" presStyleIdx="4" presStyleCnt="5"/>
      <dgm:spPr/>
    </dgm:pt>
    <dgm:pt modelId="{6DA4FE9E-7BAC-4148-B416-49C2A1AD3607}" type="pres">
      <dgm:prSet presAssocID="{01A800D9-E556-492B-9CFB-94D6F1A4130C}" presName="horz1" presStyleCnt="0"/>
      <dgm:spPr/>
    </dgm:pt>
    <dgm:pt modelId="{3F599320-8280-4FA6-99F1-AC54F07F4C18}" type="pres">
      <dgm:prSet presAssocID="{01A800D9-E556-492B-9CFB-94D6F1A4130C}" presName="tx1" presStyleLbl="revTx" presStyleIdx="4" presStyleCnt="5"/>
      <dgm:spPr/>
    </dgm:pt>
    <dgm:pt modelId="{2F2E52A8-2FC8-402E-BEC6-C9AD9830033F}" type="pres">
      <dgm:prSet presAssocID="{01A800D9-E556-492B-9CFB-94D6F1A4130C}" presName="vert1" presStyleCnt="0"/>
      <dgm:spPr/>
    </dgm:pt>
  </dgm:ptLst>
  <dgm:cxnLst>
    <dgm:cxn modelId="{D0BE1807-E809-451D-84FA-FFF17E3E6C74}" srcId="{AB622569-3613-446D-BDE0-5F88E900EDD3}" destId="{A4A14B6E-6A8D-4438-B9A6-52717CFEEE75}" srcOrd="3" destOrd="0" parTransId="{09936264-362B-47CD-8833-D9B8C12CE4B5}" sibTransId="{8451CA75-4A9B-4CE7-B30F-266325FDCA17}"/>
    <dgm:cxn modelId="{63CC1A14-FC0D-48E7-B6E6-8AD777D01B24}" type="presOf" srcId="{A4A14B6E-6A8D-4438-B9A6-52717CFEEE75}" destId="{2B419382-D5A3-4BB7-A54B-2B857BC36F23}" srcOrd="0" destOrd="0" presId="urn:microsoft.com/office/officeart/2008/layout/LinedList"/>
    <dgm:cxn modelId="{0C11E93A-782E-4D12-AB07-1CBA0E0E563D}" type="presOf" srcId="{AB622569-3613-446D-BDE0-5F88E900EDD3}" destId="{A667960E-D7ED-4908-B28A-1825F32FF32D}" srcOrd="0" destOrd="0" presId="urn:microsoft.com/office/officeart/2008/layout/LinedList"/>
    <dgm:cxn modelId="{40853450-2485-4B0F-82F0-3AA7805DDE10}" type="presOf" srcId="{01A800D9-E556-492B-9CFB-94D6F1A4130C}" destId="{3F599320-8280-4FA6-99F1-AC54F07F4C18}" srcOrd="0" destOrd="0" presId="urn:microsoft.com/office/officeart/2008/layout/LinedList"/>
    <dgm:cxn modelId="{F7A2F973-0114-4555-804D-CC6929AA942D}" type="presOf" srcId="{E588C9B9-9D29-42D9-AD52-61726AAF93D4}" destId="{C8FCFAF7-45AB-410E-978E-F767F4055CEE}" srcOrd="0" destOrd="0" presId="urn:microsoft.com/office/officeart/2008/layout/LinedList"/>
    <dgm:cxn modelId="{C7C99287-5198-4752-9771-31D9CDCC61B8}" type="presOf" srcId="{4E5FB914-E438-43DB-845A-EA57C2E5BCE8}" destId="{74BD4ACF-825E-4D79-9804-D299A3309795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E07ED4D8-65CF-4CCF-91B5-F0FA4989D2C8}" srcId="{AB622569-3613-446D-BDE0-5F88E900EDD3}" destId="{01A800D9-E556-492B-9CFB-94D6F1A4130C}" srcOrd="4" destOrd="0" parTransId="{D4FC8100-DA0D-4C44-9D4B-7229DC664347}" sibTransId="{5806E123-6057-4A92-98CB-F3C196BF0D3E}"/>
    <dgm:cxn modelId="{0B05B3E7-F063-48AD-BA4C-2C0E4E44D9F3}" type="presOf" srcId="{EF4AED4F-F3AF-48AF-8921-B20ECAA6DE62}" destId="{81CDA56D-5C6F-47D0-BE0A-39C273E5669A}" srcOrd="0" destOrd="0" presId="urn:microsoft.com/office/officeart/2008/layout/LinedList"/>
    <dgm:cxn modelId="{BE1C70FD-5C18-47F8-AFFB-A1F0BF997B80}" srcId="{AB622569-3613-446D-BDE0-5F88E900EDD3}" destId="{E588C9B9-9D29-42D9-AD52-61726AAF93D4}" srcOrd="2" destOrd="0" parTransId="{EC52EF3C-F953-423B-A626-38A5C9F35358}" sibTransId="{2D572E80-67C1-48FD-831D-E4120ED97096}"/>
    <dgm:cxn modelId="{916192FC-69A3-44A2-A108-AD5C43E0AF05}" type="presParOf" srcId="{A667960E-D7ED-4908-B28A-1825F32FF32D}" destId="{8DD9D425-7D0C-467E-BB0A-0810241B30E1}" srcOrd="0" destOrd="0" presId="urn:microsoft.com/office/officeart/2008/layout/LinedList"/>
    <dgm:cxn modelId="{EE0AC5A5-78AD-4C82-B4E5-0BE34AEB48D8}" type="presParOf" srcId="{A667960E-D7ED-4908-B28A-1825F32FF32D}" destId="{FC379B83-8286-4E7D-A45E-B81F293C2492}" srcOrd="1" destOrd="0" presId="urn:microsoft.com/office/officeart/2008/layout/LinedList"/>
    <dgm:cxn modelId="{7CE0CE97-7178-4989-AAA3-1830C1EC6240}" type="presParOf" srcId="{FC379B83-8286-4E7D-A45E-B81F293C2492}" destId="{81CDA56D-5C6F-47D0-BE0A-39C273E5669A}" srcOrd="0" destOrd="0" presId="urn:microsoft.com/office/officeart/2008/layout/LinedList"/>
    <dgm:cxn modelId="{C9D447E7-BE2A-44DE-AE7F-8FCA26FF2C8B}" type="presParOf" srcId="{FC379B83-8286-4E7D-A45E-B81F293C2492}" destId="{AC48A940-8C05-43B5-A044-15ADA1773FB7}" srcOrd="1" destOrd="0" presId="urn:microsoft.com/office/officeart/2008/layout/LinedList"/>
    <dgm:cxn modelId="{8B49A832-1E94-49D7-99C5-07D593CEA7A4}" type="presParOf" srcId="{A667960E-D7ED-4908-B28A-1825F32FF32D}" destId="{F82FF8E0-9CA2-45A8-9D18-12F34CF86DDA}" srcOrd="2" destOrd="0" presId="urn:microsoft.com/office/officeart/2008/layout/LinedList"/>
    <dgm:cxn modelId="{9A291E3D-A0C9-4E6F-B7BB-67E711A06523}" type="presParOf" srcId="{A667960E-D7ED-4908-B28A-1825F32FF32D}" destId="{954546CD-FF0C-4564-80E5-523E8A936196}" srcOrd="3" destOrd="0" presId="urn:microsoft.com/office/officeart/2008/layout/LinedList"/>
    <dgm:cxn modelId="{7AA7EADE-111D-4B1D-BA7C-965DDF63752C}" type="presParOf" srcId="{954546CD-FF0C-4564-80E5-523E8A936196}" destId="{74BD4ACF-825E-4D79-9804-D299A3309795}" srcOrd="0" destOrd="0" presId="urn:microsoft.com/office/officeart/2008/layout/LinedList"/>
    <dgm:cxn modelId="{EEA038FE-983F-4B23-965F-DFE3DFB9792D}" type="presParOf" srcId="{954546CD-FF0C-4564-80E5-523E8A936196}" destId="{D46D6488-8F46-43D2-BD53-4B7FBFD7CB7F}" srcOrd="1" destOrd="0" presId="urn:microsoft.com/office/officeart/2008/layout/LinedList"/>
    <dgm:cxn modelId="{E2B1D4A2-93DB-4804-BA07-869C528DC731}" type="presParOf" srcId="{A667960E-D7ED-4908-B28A-1825F32FF32D}" destId="{8AA3EAD2-FDB3-4552-974C-248D810D5D07}" srcOrd="4" destOrd="0" presId="urn:microsoft.com/office/officeart/2008/layout/LinedList"/>
    <dgm:cxn modelId="{EBF134B8-1059-476E-9982-2DC529E5FD2B}" type="presParOf" srcId="{A667960E-D7ED-4908-B28A-1825F32FF32D}" destId="{B89B3C41-0107-49E6-A753-E0BB473DB5E5}" srcOrd="5" destOrd="0" presId="urn:microsoft.com/office/officeart/2008/layout/LinedList"/>
    <dgm:cxn modelId="{A3D1A25E-C565-4580-8F34-14CCDF4C0AA0}" type="presParOf" srcId="{B89B3C41-0107-49E6-A753-E0BB473DB5E5}" destId="{C8FCFAF7-45AB-410E-978E-F767F4055CEE}" srcOrd="0" destOrd="0" presId="urn:microsoft.com/office/officeart/2008/layout/LinedList"/>
    <dgm:cxn modelId="{BAF96BC1-4BA4-432B-A335-E2DC92E99EB8}" type="presParOf" srcId="{B89B3C41-0107-49E6-A753-E0BB473DB5E5}" destId="{2099C557-DA55-471B-9EE3-22A19AB6B140}" srcOrd="1" destOrd="0" presId="urn:microsoft.com/office/officeart/2008/layout/LinedList"/>
    <dgm:cxn modelId="{83B514AC-9406-41EF-A69D-7BFBC5BC55AF}" type="presParOf" srcId="{A667960E-D7ED-4908-B28A-1825F32FF32D}" destId="{E8C1D4E9-6AEF-4707-8981-657D5A62A930}" srcOrd="6" destOrd="0" presId="urn:microsoft.com/office/officeart/2008/layout/LinedList"/>
    <dgm:cxn modelId="{EF943FAE-C9E6-4FE9-84AA-3B83429D9E99}" type="presParOf" srcId="{A667960E-D7ED-4908-B28A-1825F32FF32D}" destId="{44CE8526-8357-48B7-98E8-7DA223C82878}" srcOrd="7" destOrd="0" presId="urn:microsoft.com/office/officeart/2008/layout/LinedList"/>
    <dgm:cxn modelId="{888A9BCD-C796-443B-A901-58169150DF88}" type="presParOf" srcId="{44CE8526-8357-48B7-98E8-7DA223C82878}" destId="{2B419382-D5A3-4BB7-A54B-2B857BC36F23}" srcOrd="0" destOrd="0" presId="urn:microsoft.com/office/officeart/2008/layout/LinedList"/>
    <dgm:cxn modelId="{6813BF1D-370D-4D49-BD43-C6549E714019}" type="presParOf" srcId="{44CE8526-8357-48B7-98E8-7DA223C82878}" destId="{10F6F703-037B-4649-AF7E-86DBA949611C}" srcOrd="1" destOrd="0" presId="urn:microsoft.com/office/officeart/2008/layout/LinedList"/>
    <dgm:cxn modelId="{02E1F801-321A-431D-A89F-DD1A8C9928BB}" type="presParOf" srcId="{A667960E-D7ED-4908-B28A-1825F32FF32D}" destId="{A3F95DD4-F901-4AB5-9540-118B55F4CB7B}" srcOrd="8" destOrd="0" presId="urn:microsoft.com/office/officeart/2008/layout/LinedList"/>
    <dgm:cxn modelId="{5C69B82E-FC78-4577-BBFC-6E8F34242B88}" type="presParOf" srcId="{A667960E-D7ED-4908-B28A-1825F32FF32D}" destId="{6DA4FE9E-7BAC-4148-B416-49C2A1AD3607}" srcOrd="9" destOrd="0" presId="urn:microsoft.com/office/officeart/2008/layout/LinedList"/>
    <dgm:cxn modelId="{E2E5BE4A-7796-4255-BE79-918E7A287BE8}" type="presParOf" srcId="{6DA4FE9E-7BAC-4148-B416-49C2A1AD3607}" destId="{3F599320-8280-4FA6-99F1-AC54F07F4C18}" srcOrd="0" destOrd="0" presId="urn:microsoft.com/office/officeart/2008/layout/LinedList"/>
    <dgm:cxn modelId="{F19BEB9B-1BC7-4AE2-9150-B3FD5F2BFB1F}" type="presParOf" srcId="{6DA4FE9E-7BAC-4148-B416-49C2A1AD3607}" destId="{2F2E52A8-2FC8-402E-BEC6-C9AD9830033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EF4AED4F-F3AF-48AF-8921-B20ECAA6DE62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Removed records with missing target values and any clearly inconsistent bookings after basic checks</a:t>
          </a: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Dropped variables that are not available at booking time, for example reservation status and reservation status date, to avoid information leakage into the model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588C9B9-9D29-42D9-AD52-61726AAF93D4}">
      <dgm:prSet custT="1"/>
      <dgm:spPr/>
      <dgm:t>
        <a:bodyPr/>
        <a:lstStyle/>
        <a:p>
          <a:r>
            <a:rPr lang="en-US" sz="1500">
              <a:solidFill>
                <a:schemeClr val="tx2">
                  <a:lumMod val="60000"/>
                  <a:lumOff val="40000"/>
                </a:schemeClr>
              </a:solidFill>
            </a:rPr>
            <a:t>Handled missing values</a:t>
          </a:r>
        </a:p>
        <a:p>
          <a:r>
            <a:rPr lang="en-US" sz="1500">
              <a:solidFill>
                <a:schemeClr val="tx2">
                  <a:lumMod val="60000"/>
                  <a:lumOff val="40000"/>
                </a:schemeClr>
              </a:solidFill>
            </a:rPr>
            <a:t> - For numeric fields such as children we replaced missing entries with zero after checking the distributions</a:t>
          </a:r>
        </a:p>
        <a:p>
          <a:r>
            <a:rPr lang="en-US" sz="1500">
              <a:solidFill>
                <a:schemeClr val="tx2">
                  <a:lumMod val="60000"/>
                  <a:lumOff val="40000"/>
                </a:schemeClr>
              </a:solidFill>
            </a:rPr>
            <a:t> - For categorical fields such as country, agent and company we created a separate category named Unknown</a:t>
          </a:r>
        </a:p>
      </dgm:t>
    </dgm:pt>
    <dgm:pt modelId="{EC52EF3C-F953-423B-A626-38A5C9F35358}" type="par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D572E80-67C1-48FD-831D-E4120ED97096}" type="sib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01A800D9-E556-492B-9CFB-94D6F1A4130C}">
      <dgm:prSet custT="1"/>
      <dgm:spPr/>
      <dgm:t>
        <a:bodyPr/>
        <a:lstStyle/>
        <a:p>
          <a:r>
            <a:rPr lang="en-US" sz="1500">
              <a:solidFill>
                <a:schemeClr val="tx2">
                  <a:lumMod val="60000"/>
                  <a:lumOff val="40000"/>
                </a:schemeClr>
              </a:solidFill>
            </a:rPr>
            <a:t>Separated features into numeric and categorical groups so that each could be processed appropriately</a:t>
          </a:r>
        </a:p>
      </dgm:t>
    </dgm:pt>
    <dgm:pt modelId="{D4FC8100-DA0D-4C44-9D4B-7229DC664347}" type="parTrans" cxnId="{E07ED4D8-65CF-4CCF-91B5-F0FA4989D2C8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5806E123-6057-4A92-98CB-F3C196BF0D3E}" type="sibTrans" cxnId="{E07ED4D8-65CF-4CCF-91B5-F0FA4989D2C8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F1184A1B-D023-4AE1-A15D-75407656AEBF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548007A2-03BF-4A15-BB38-E04DBFDDCBD6}" type="pres">
      <dgm:prSet presAssocID="{EF4AED4F-F3AF-48AF-8921-B20ECAA6DE62}" presName="thickLine" presStyleLbl="alignNode1" presStyleIdx="0" presStyleCnt="4"/>
      <dgm:spPr/>
    </dgm:pt>
    <dgm:pt modelId="{2DFC8B56-48BF-4909-9194-186AE842ADE4}" type="pres">
      <dgm:prSet presAssocID="{EF4AED4F-F3AF-48AF-8921-B20ECAA6DE62}" presName="horz1" presStyleCnt="0"/>
      <dgm:spPr/>
    </dgm:pt>
    <dgm:pt modelId="{E3CBE07F-2954-4017-A6F5-09CFEED2E6AD}" type="pres">
      <dgm:prSet presAssocID="{EF4AED4F-F3AF-48AF-8921-B20ECAA6DE62}" presName="tx1" presStyleLbl="revTx" presStyleIdx="0" presStyleCnt="4"/>
      <dgm:spPr/>
    </dgm:pt>
    <dgm:pt modelId="{40EAFE9D-2C90-4F07-842A-AF18FD9441CD}" type="pres">
      <dgm:prSet presAssocID="{EF4AED4F-F3AF-48AF-8921-B20ECAA6DE62}" presName="vert1" presStyleCnt="0"/>
      <dgm:spPr/>
    </dgm:pt>
    <dgm:pt modelId="{C54EE4D3-6F82-46CC-BAEF-2127084FCD7E}" type="pres">
      <dgm:prSet presAssocID="{4E5FB914-E438-43DB-845A-EA57C2E5BCE8}" presName="thickLine" presStyleLbl="alignNode1" presStyleIdx="1" presStyleCnt="4"/>
      <dgm:spPr/>
    </dgm:pt>
    <dgm:pt modelId="{4EEDE585-0E1A-4294-ABB1-81CB66F8F729}" type="pres">
      <dgm:prSet presAssocID="{4E5FB914-E438-43DB-845A-EA57C2E5BCE8}" presName="horz1" presStyleCnt="0"/>
      <dgm:spPr/>
    </dgm:pt>
    <dgm:pt modelId="{BB7E320C-671C-4D3B-9511-7608F8BEBF48}" type="pres">
      <dgm:prSet presAssocID="{4E5FB914-E438-43DB-845A-EA57C2E5BCE8}" presName="tx1" presStyleLbl="revTx" presStyleIdx="1" presStyleCnt="4"/>
      <dgm:spPr/>
    </dgm:pt>
    <dgm:pt modelId="{B21DCFD8-1B9D-4076-81E9-22E7BF9158D7}" type="pres">
      <dgm:prSet presAssocID="{4E5FB914-E438-43DB-845A-EA57C2E5BCE8}" presName="vert1" presStyleCnt="0"/>
      <dgm:spPr/>
    </dgm:pt>
    <dgm:pt modelId="{94AF2A37-6C4A-476B-9582-068EF6B9CA76}" type="pres">
      <dgm:prSet presAssocID="{E588C9B9-9D29-42D9-AD52-61726AAF93D4}" presName="thickLine" presStyleLbl="alignNode1" presStyleIdx="2" presStyleCnt="4"/>
      <dgm:spPr/>
    </dgm:pt>
    <dgm:pt modelId="{518BF1F0-CBB9-419B-8957-0A74B6F40767}" type="pres">
      <dgm:prSet presAssocID="{E588C9B9-9D29-42D9-AD52-61726AAF93D4}" presName="horz1" presStyleCnt="0"/>
      <dgm:spPr/>
    </dgm:pt>
    <dgm:pt modelId="{48186974-320A-49AD-ABF4-957281034717}" type="pres">
      <dgm:prSet presAssocID="{E588C9B9-9D29-42D9-AD52-61726AAF93D4}" presName="tx1" presStyleLbl="revTx" presStyleIdx="2" presStyleCnt="4"/>
      <dgm:spPr/>
    </dgm:pt>
    <dgm:pt modelId="{AC4960D8-6274-4FB3-9DDD-2FDB454AE580}" type="pres">
      <dgm:prSet presAssocID="{E588C9B9-9D29-42D9-AD52-61726AAF93D4}" presName="vert1" presStyleCnt="0"/>
      <dgm:spPr/>
    </dgm:pt>
    <dgm:pt modelId="{B9FD9A7D-4C8A-47E7-8724-AE46A7A41DE1}" type="pres">
      <dgm:prSet presAssocID="{01A800D9-E556-492B-9CFB-94D6F1A4130C}" presName="thickLine" presStyleLbl="alignNode1" presStyleIdx="3" presStyleCnt="4"/>
      <dgm:spPr/>
    </dgm:pt>
    <dgm:pt modelId="{87C715E1-6B0D-4BF1-B4E0-1FE000A037CA}" type="pres">
      <dgm:prSet presAssocID="{01A800D9-E556-492B-9CFB-94D6F1A4130C}" presName="horz1" presStyleCnt="0"/>
      <dgm:spPr/>
    </dgm:pt>
    <dgm:pt modelId="{41EF9ACA-6E4C-4156-8FAF-3DB8026479A8}" type="pres">
      <dgm:prSet presAssocID="{01A800D9-E556-492B-9CFB-94D6F1A4130C}" presName="tx1" presStyleLbl="revTx" presStyleIdx="3" presStyleCnt="4"/>
      <dgm:spPr/>
    </dgm:pt>
    <dgm:pt modelId="{236C3097-CD0D-4395-B718-645AED97CA0E}" type="pres">
      <dgm:prSet presAssocID="{01A800D9-E556-492B-9CFB-94D6F1A4130C}" presName="vert1" presStyleCnt="0"/>
      <dgm:spPr/>
    </dgm:pt>
  </dgm:ptLst>
  <dgm:cxnLst>
    <dgm:cxn modelId="{E647B34B-7D7A-4F1E-AE75-60AC27B68274}" type="presOf" srcId="{4E5FB914-E438-43DB-845A-EA57C2E5BCE8}" destId="{BB7E320C-671C-4D3B-9511-7608F8BEBF48}" srcOrd="0" destOrd="0" presId="urn:microsoft.com/office/officeart/2008/layout/LinedList"/>
    <dgm:cxn modelId="{59848D7E-FE86-4B2D-9962-6AEE91FF5C88}" type="presOf" srcId="{01A800D9-E556-492B-9CFB-94D6F1A4130C}" destId="{41EF9ACA-6E4C-4156-8FAF-3DB8026479A8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A73990A3-0E2F-4FCE-8370-E4111CB4A34B}" type="presOf" srcId="{E588C9B9-9D29-42D9-AD52-61726AAF93D4}" destId="{48186974-320A-49AD-ABF4-957281034717}" srcOrd="0" destOrd="0" presId="urn:microsoft.com/office/officeart/2008/layout/LinedList"/>
    <dgm:cxn modelId="{77CA1CB3-B736-4BC8-B38A-A4DBD0AD2B5D}" type="presOf" srcId="{EF4AED4F-F3AF-48AF-8921-B20ECAA6DE62}" destId="{E3CBE07F-2954-4017-A6F5-09CFEED2E6AD}" srcOrd="0" destOrd="0" presId="urn:microsoft.com/office/officeart/2008/layout/LinedList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E07ED4D8-65CF-4CCF-91B5-F0FA4989D2C8}" srcId="{AB622569-3613-446D-BDE0-5F88E900EDD3}" destId="{01A800D9-E556-492B-9CFB-94D6F1A4130C}" srcOrd="3" destOrd="0" parTransId="{D4FC8100-DA0D-4C44-9D4B-7229DC664347}" sibTransId="{5806E123-6057-4A92-98CB-F3C196BF0D3E}"/>
    <dgm:cxn modelId="{9CD116DC-10E6-490E-A286-98BD3AD59788}" type="presOf" srcId="{AB622569-3613-446D-BDE0-5F88E900EDD3}" destId="{F1184A1B-D023-4AE1-A15D-75407656AEBF}" srcOrd="0" destOrd="0" presId="urn:microsoft.com/office/officeart/2008/layout/LinedList"/>
    <dgm:cxn modelId="{BE1C70FD-5C18-47F8-AFFB-A1F0BF997B80}" srcId="{AB622569-3613-446D-BDE0-5F88E900EDD3}" destId="{E588C9B9-9D29-42D9-AD52-61726AAF93D4}" srcOrd="2" destOrd="0" parTransId="{EC52EF3C-F953-423B-A626-38A5C9F35358}" sibTransId="{2D572E80-67C1-48FD-831D-E4120ED97096}"/>
    <dgm:cxn modelId="{CCFE4120-6889-4C62-A5C9-930E31229B6D}" type="presParOf" srcId="{F1184A1B-D023-4AE1-A15D-75407656AEBF}" destId="{548007A2-03BF-4A15-BB38-E04DBFDDCBD6}" srcOrd="0" destOrd="0" presId="urn:microsoft.com/office/officeart/2008/layout/LinedList"/>
    <dgm:cxn modelId="{73E2B77B-2423-4A4A-9CFE-6903980F181F}" type="presParOf" srcId="{F1184A1B-D023-4AE1-A15D-75407656AEBF}" destId="{2DFC8B56-48BF-4909-9194-186AE842ADE4}" srcOrd="1" destOrd="0" presId="urn:microsoft.com/office/officeart/2008/layout/LinedList"/>
    <dgm:cxn modelId="{54F0D282-5E7A-4A5D-A7F1-5865AF334D99}" type="presParOf" srcId="{2DFC8B56-48BF-4909-9194-186AE842ADE4}" destId="{E3CBE07F-2954-4017-A6F5-09CFEED2E6AD}" srcOrd="0" destOrd="0" presId="urn:microsoft.com/office/officeart/2008/layout/LinedList"/>
    <dgm:cxn modelId="{AF6671D3-E6BC-4D8E-ACCC-65D70EF3F297}" type="presParOf" srcId="{2DFC8B56-48BF-4909-9194-186AE842ADE4}" destId="{40EAFE9D-2C90-4F07-842A-AF18FD9441CD}" srcOrd="1" destOrd="0" presId="urn:microsoft.com/office/officeart/2008/layout/LinedList"/>
    <dgm:cxn modelId="{5A692199-1D2A-4A2A-8D24-77170B93214D}" type="presParOf" srcId="{F1184A1B-D023-4AE1-A15D-75407656AEBF}" destId="{C54EE4D3-6F82-46CC-BAEF-2127084FCD7E}" srcOrd="2" destOrd="0" presId="urn:microsoft.com/office/officeart/2008/layout/LinedList"/>
    <dgm:cxn modelId="{D371E22D-074C-44A7-A39E-334C5AB41741}" type="presParOf" srcId="{F1184A1B-D023-4AE1-A15D-75407656AEBF}" destId="{4EEDE585-0E1A-4294-ABB1-81CB66F8F729}" srcOrd="3" destOrd="0" presId="urn:microsoft.com/office/officeart/2008/layout/LinedList"/>
    <dgm:cxn modelId="{A27529F6-56CD-4E40-BFD1-C7E20DBB7CF7}" type="presParOf" srcId="{4EEDE585-0E1A-4294-ABB1-81CB66F8F729}" destId="{BB7E320C-671C-4D3B-9511-7608F8BEBF48}" srcOrd="0" destOrd="0" presId="urn:microsoft.com/office/officeart/2008/layout/LinedList"/>
    <dgm:cxn modelId="{08E68A7C-91D1-404C-88B3-C8878972D7BD}" type="presParOf" srcId="{4EEDE585-0E1A-4294-ABB1-81CB66F8F729}" destId="{B21DCFD8-1B9D-4076-81E9-22E7BF9158D7}" srcOrd="1" destOrd="0" presId="urn:microsoft.com/office/officeart/2008/layout/LinedList"/>
    <dgm:cxn modelId="{66FD57E4-6595-4A53-848F-931291D386D8}" type="presParOf" srcId="{F1184A1B-D023-4AE1-A15D-75407656AEBF}" destId="{94AF2A37-6C4A-476B-9582-068EF6B9CA76}" srcOrd="4" destOrd="0" presId="urn:microsoft.com/office/officeart/2008/layout/LinedList"/>
    <dgm:cxn modelId="{66F2BBAE-C2E0-4632-8209-D6D8CF5F7C4F}" type="presParOf" srcId="{F1184A1B-D023-4AE1-A15D-75407656AEBF}" destId="{518BF1F0-CBB9-419B-8957-0A74B6F40767}" srcOrd="5" destOrd="0" presId="urn:microsoft.com/office/officeart/2008/layout/LinedList"/>
    <dgm:cxn modelId="{5576393B-E033-4BCE-844D-EFADCE4D6482}" type="presParOf" srcId="{518BF1F0-CBB9-419B-8957-0A74B6F40767}" destId="{48186974-320A-49AD-ABF4-957281034717}" srcOrd="0" destOrd="0" presId="urn:microsoft.com/office/officeart/2008/layout/LinedList"/>
    <dgm:cxn modelId="{75DB9359-C436-44DD-9D72-5D94E0D90153}" type="presParOf" srcId="{518BF1F0-CBB9-419B-8957-0A74B6F40767}" destId="{AC4960D8-6274-4FB3-9DDD-2FDB454AE580}" srcOrd="1" destOrd="0" presId="urn:microsoft.com/office/officeart/2008/layout/LinedList"/>
    <dgm:cxn modelId="{E5262C39-AD33-43E2-B3ED-CD29D7EA4654}" type="presParOf" srcId="{F1184A1B-D023-4AE1-A15D-75407656AEBF}" destId="{B9FD9A7D-4C8A-47E7-8724-AE46A7A41DE1}" srcOrd="6" destOrd="0" presId="urn:microsoft.com/office/officeart/2008/layout/LinedList"/>
    <dgm:cxn modelId="{2AB01698-1CBF-420E-8D77-80014B1FB5F6}" type="presParOf" srcId="{F1184A1B-D023-4AE1-A15D-75407656AEBF}" destId="{87C715E1-6B0D-4BF1-B4E0-1FE000A037CA}" srcOrd="7" destOrd="0" presId="urn:microsoft.com/office/officeart/2008/layout/LinedList"/>
    <dgm:cxn modelId="{98537539-E0A9-464E-8A8D-86B4AC471D89}" type="presParOf" srcId="{87C715E1-6B0D-4BF1-B4E0-1FE000A037CA}" destId="{41EF9ACA-6E4C-4156-8FAF-3DB8026479A8}" srcOrd="0" destOrd="0" presId="urn:microsoft.com/office/officeart/2008/layout/LinedList"/>
    <dgm:cxn modelId="{C1D36202-9374-40F2-9267-B2D941EB1476}" type="presParOf" srcId="{87C715E1-6B0D-4BF1-B4E0-1FE000A037CA}" destId="{236C3097-CD0D-4395-B718-645AED97CA0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F4AED4F-F3AF-48AF-8921-B20ECAA6DE62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Used a column transformer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Numeric features were scaled using a standard scaler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Categorical features were converted into dummy variables using one hot encoding</a:t>
          </a: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Performed a train test split so that model training happens only on the training set and the test set is kept aside for final evaluation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588C9B9-9D29-42D9-AD52-61726AAF93D4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Applied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SMOTE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only on the training set to balance the classes by creating synthetic examples for the cancelled bookings while leaving the original test set unchanged</a:t>
          </a:r>
        </a:p>
      </dgm:t>
    </dgm:pt>
    <dgm:pt modelId="{EC52EF3C-F953-423B-A626-38A5C9F35358}" type="par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D572E80-67C1-48FD-831D-E4120ED97096}" type="sib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F941564C-032D-4189-A028-23497EF1A7F2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AA757657-2497-4B21-A54A-5957F8DC2D3D}" type="pres">
      <dgm:prSet presAssocID="{EF4AED4F-F3AF-48AF-8921-B20ECAA6DE62}" presName="thickLine" presStyleLbl="alignNode1" presStyleIdx="0" presStyleCnt="3"/>
      <dgm:spPr/>
    </dgm:pt>
    <dgm:pt modelId="{449798E0-91ED-4BEA-B489-0ADDFD3325B6}" type="pres">
      <dgm:prSet presAssocID="{EF4AED4F-F3AF-48AF-8921-B20ECAA6DE62}" presName="horz1" presStyleCnt="0"/>
      <dgm:spPr/>
    </dgm:pt>
    <dgm:pt modelId="{EDA48515-740B-4A9C-A182-5EA54180501B}" type="pres">
      <dgm:prSet presAssocID="{EF4AED4F-F3AF-48AF-8921-B20ECAA6DE62}" presName="tx1" presStyleLbl="revTx" presStyleIdx="0" presStyleCnt="3"/>
      <dgm:spPr/>
    </dgm:pt>
    <dgm:pt modelId="{3DBFA739-4A29-4BB3-8B85-85243A46BFF1}" type="pres">
      <dgm:prSet presAssocID="{EF4AED4F-F3AF-48AF-8921-B20ECAA6DE62}" presName="vert1" presStyleCnt="0"/>
      <dgm:spPr/>
    </dgm:pt>
    <dgm:pt modelId="{1429B404-570D-420E-ADC9-FC2BA4C69B6D}" type="pres">
      <dgm:prSet presAssocID="{4E5FB914-E438-43DB-845A-EA57C2E5BCE8}" presName="thickLine" presStyleLbl="alignNode1" presStyleIdx="1" presStyleCnt="3"/>
      <dgm:spPr/>
    </dgm:pt>
    <dgm:pt modelId="{00B73385-7BF1-4EBF-A5A7-5B178317A5C4}" type="pres">
      <dgm:prSet presAssocID="{4E5FB914-E438-43DB-845A-EA57C2E5BCE8}" presName="horz1" presStyleCnt="0"/>
      <dgm:spPr/>
    </dgm:pt>
    <dgm:pt modelId="{ECED6795-F372-44BE-AA2F-ED66AD4E2AF1}" type="pres">
      <dgm:prSet presAssocID="{4E5FB914-E438-43DB-845A-EA57C2E5BCE8}" presName="tx1" presStyleLbl="revTx" presStyleIdx="1" presStyleCnt="3"/>
      <dgm:spPr/>
    </dgm:pt>
    <dgm:pt modelId="{A62A07A6-4368-4042-AE02-4EF90F69F1F3}" type="pres">
      <dgm:prSet presAssocID="{4E5FB914-E438-43DB-845A-EA57C2E5BCE8}" presName="vert1" presStyleCnt="0"/>
      <dgm:spPr/>
    </dgm:pt>
    <dgm:pt modelId="{7156FF45-594C-449A-8B5D-1F3A2F813AB5}" type="pres">
      <dgm:prSet presAssocID="{E588C9B9-9D29-42D9-AD52-61726AAF93D4}" presName="thickLine" presStyleLbl="alignNode1" presStyleIdx="2" presStyleCnt="3"/>
      <dgm:spPr/>
    </dgm:pt>
    <dgm:pt modelId="{2FC09C06-2CFA-4998-A6CB-F541902FBA51}" type="pres">
      <dgm:prSet presAssocID="{E588C9B9-9D29-42D9-AD52-61726AAF93D4}" presName="horz1" presStyleCnt="0"/>
      <dgm:spPr/>
    </dgm:pt>
    <dgm:pt modelId="{8363364C-FB0F-46A3-8D9F-C7CE937010E0}" type="pres">
      <dgm:prSet presAssocID="{E588C9B9-9D29-42D9-AD52-61726AAF93D4}" presName="tx1" presStyleLbl="revTx" presStyleIdx="2" presStyleCnt="3"/>
      <dgm:spPr/>
    </dgm:pt>
    <dgm:pt modelId="{C3AF308C-798A-4FD6-84A4-34F29656B513}" type="pres">
      <dgm:prSet presAssocID="{E588C9B9-9D29-42D9-AD52-61726AAF93D4}" presName="vert1" presStyleCnt="0"/>
      <dgm:spPr/>
    </dgm:pt>
  </dgm:ptLst>
  <dgm:cxnLst>
    <dgm:cxn modelId="{1D065735-BF7E-45E5-B0DF-7D25F7705EE7}" type="presOf" srcId="{EF4AED4F-F3AF-48AF-8921-B20ECAA6DE62}" destId="{EDA48515-740B-4A9C-A182-5EA54180501B}" srcOrd="0" destOrd="0" presId="urn:microsoft.com/office/officeart/2008/layout/LinedList"/>
    <dgm:cxn modelId="{C3B9443A-620F-4E6E-ADE3-60A1EDD09EE0}" type="presOf" srcId="{4E5FB914-E438-43DB-845A-EA57C2E5BCE8}" destId="{ECED6795-F372-44BE-AA2F-ED66AD4E2AF1}" srcOrd="0" destOrd="0" presId="urn:microsoft.com/office/officeart/2008/layout/LinedList"/>
    <dgm:cxn modelId="{D5171249-7A2F-4C5D-80A9-A8FF9CDA9DCE}" type="presOf" srcId="{E588C9B9-9D29-42D9-AD52-61726AAF93D4}" destId="{8363364C-FB0F-46A3-8D9F-C7CE937010E0}" srcOrd="0" destOrd="0" presId="urn:microsoft.com/office/officeart/2008/layout/LinedList"/>
    <dgm:cxn modelId="{2800174E-CFE2-4BEE-AF2C-3EC753F7B550}" type="presOf" srcId="{AB622569-3613-446D-BDE0-5F88E900EDD3}" destId="{F941564C-032D-4189-A028-23497EF1A7F2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BE1C70FD-5C18-47F8-AFFB-A1F0BF997B80}" srcId="{AB622569-3613-446D-BDE0-5F88E900EDD3}" destId="{E588C9B9-9D29-42D9-AD52-61726AAF93D4}" srcOrd="2" destOrd="0" parTransId="{EC52EF3C-F953-423B-A626-38A5C9F35358}" sibTransId="{2D572E80-67C1-48FD-831D-E4120ED97096}"/>
    <dgm:cxn modelId="{B26DEC21-608D-497B-A9B2-D9C7EE802D6E}" type="presParOf" srcId="{F941564C-032D-4189-A028-23497EF1A7F2}" destId="{AA757657-2497-4B21-A54A-5957F8DC2D3D}" srcOrd="0" destOrd="0" presId="urn:microsoft.com/office/officeart/2008/layout/LinedList"/>
    <dgm:cxn modelId="{B3B6990E-56C1-4577-A444-3877842A4092}" type="presParOf" srcId="{F941564C-032D-4189-A028-23497EF1A7F2}" destId="{449798E0-91ED-4BEA-B489-0ADDFD3325B6}" srcOrd="1" destOrd="0" presId="urn:microsoft.com/office/officeart/2008/layout/LinedList"/>
    <dgm:cxn modelId="{E3F42AE8-A868-481F-B1D7-ED520450AC23}" type="presParOf" srcId="{449798E0-91ED-4BEA-B489-0ADDFD3325B6}" destId="{EDA48515-740B-4A9C-A182-5EA54180501B}" srcOrd="0" destOrd="0" presId="urn:microsoft.com/office/officeart/2008/layout/LinedList"/>
    <dgm:cxn modelId="{A00A76F7-A424-48BB-9C00-2B94AFE3BE55}" type="presParOf" srcId="{449798E0-91ED-4BEA-B489-0ADDFD3325B6}" destId="{3DBFA739-4A29-4BB3-8B85-85243A46BFF1}" srcOrd="1" destOrd="0" presId="urn:microsoft.com/office/officeart/2008/layout/LinedList"/>
    <dgm:cxn modelId="{65A09B87-D6C6-4601-ABB5-2362E0F86FFE}" type="presParOf" srcId="{F941564C-032D-4189-A028-23497EF1A7F2}" destId="{1429B404-570D-420E-ADC9-FC2BA4C69B6D}" srcOrd="2" destOrd="0" presId="urn:microsoft.com/office/officeart/2008/layout/LinedList"/>
    <dgm:cxn modelId="{30B32D17-1FEC-46C9-802B-2111598F2C60}" type="presParOf" srcId="{F941564C-032D-4189-A028-23497EF1A7F2}" destId="{00B73385-7BF1-4EBF-A5A7-5B178317A5C4}" srcOrd="3" destOrd="0" presId="urn:microsoft.com/office/officeart/2008/layout/LinedList"/>
    <dgm:cxn modelId="{3BC51834-E66F-4A39-A5EF-E1A04B54442D}" type="presParOf" srcId="{00B73385-7BF1-4EBF-A5A7-5B178317A5C4}" destId="{ECED6795-F372-44BE-AA2F-ED66AD4E2AF1}" srcOrd="0" destOrd="0" presId="urn:microsoft.com/office/officeart/2008/layout/LinedList"/>
    <dgm:cxn modelId="{1C611469-B96D-417E-9985-3D82DC9EADA2}" type="presParOf" srcId="{00B73385-7BF1-4EBF-A5A7-5B178317A5C4}" destId="{A62A07A6-4368-4042-AE02-4EF90F69F1F3}" srcOrd="1" destOrd="0" presId="urn:microsoft.com/office/officeart/2008/layout/LinedList"/>
    <dgm:cxn modelId="{89A11D51-5F6E-4334-9812-D630FFE5C935}" type="presParOf" srcId="{F941564C-032D-4189-A028-23497EF1A7F2}" destId="{7156FF45-594C-449A-8B5D-1F3A2F813AB5}" srcOrd="4" destOrd="0" presId="urn:microsoft.com/office/officeart/2008/layout/LinedList"/>
    <dgm:cxn modelId="{5F95C6CA-30D8-439D-BA57-18B7418487E2}" type="presParOf" srcId="{F941564C-032D-4189-A028-23497EF1A7F2}" destId="{2FC09C06-2CFA-4998-A6CB-F541902FBA51}" srcOrd="5" destOrd="0" presId="urn:microsoft.com/office/officeart/2008/layout/LinedList"/>
    <dgm:cxn modelId="{32650814-61B4-4A81-B8BB-A28799238A23}" type="presParOf" srcId="{2FC09C06-2CFA-4998-A6CB-F541902FBA51}" destId="{8363364C-FB0F-46A3-8D9F-C7CE937010E0}" srcOrd="0" destOrd="0" presId="urn:microsoft.com/office/officeart/2008/layout/LinedList"/>
    <dgm:cxn modelId="{06CF277F-A4C5-414D-AC71-264C0C4B332F}" type="presParOf" srcId="{2FC09C06-2CFA-4998-A6CB-F541902FBA51}" destId="{C3AF308C-798A-4FD6-84A4-34F29656B51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EF4AED4F-F3AF-48AF-8921-B20ECAA6DE62}">
      <dgm:prSet custT="1"/>
      <dgm:spPr/>
      <dgm:t>
        <a:bodyPr/>
        <a:lstStyle/>
        <a:p>
          <a:r>
            <a:rPr lang="en-US" sz="1500" b="1" dirty="0">
              <a:solidFill>
                <a:schemeClr val="tx2">
                  <a:lumMod val="60000"/>
                  <a:lumOff val="40000"/>
                </a:schemeClr>
              </a:solidFill>
            </a:rPr>
            <a:t>Goal of modelling stage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Learn a function that takes booking features as input and outputs the probability that the booking will be cancelled</a:t>
          </a: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We trained several supervised classification models on the prepared data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Logistic regression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as a simple linear baseline model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Single decision tree models using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C A R T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and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C 4.5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style splitting rules for transparent if then decision paths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K nearest </a:t>
          </a:r>
          <a:r>
            <a:rPr lang="en-US" sz="1500" i="1" dirty="0" err="1">
              <a:solidFill>
                <a:schemeClr val="tx2">
                  <a:lumMod val="60000"/>
                  <a:lumOff val="40000"/>
                </a:schemeClr>
              </a:solidFill>
            </a:rPr>
            <a:t>neighbour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classifier as a distance-based method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Random Forest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classifier which combines many decision trees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Multilayer perceptron neural network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as a nonlinear parametric model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1EBD37AC-A740-4F38-A7A2-BD0559AD0B69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DA700F2E-A06A-4E23-8252-FAD2CAF6B417}" type="pres">
      <dgm:prSet presAssocID="{EF4AED4F-F3AF-48AF-8921-B20ECAA6DE62}" presName="thickLine" presStyleLbl="alignNode1" presStyleIdx="0" presStyleCnt="2"/>
      <dgm:spPr/>
    </dgm:pt>
    <dgm:pt modelId="{1CFC0F98-A689-4369-9873-6ED4D19C7F8C}" type="pres">
      <dgm:prSet presAssocID="{EF4AED4F-F3AF-48AF-8921-B20ECAA6DE62}" presName="horz1" presStyleCnt="0"/>
      <dgm:spPr/>
    </dgm:pt>
    <dgm:pt modelId="{9085006B-A548-4344-8AAA-B67F54F18076}" type="pres">
      <dgm:prSet presAssocID="{EF4AED4F-F3AF-48AF-8921-B20ECAA6DE62}" presName="tx1" presStyleLbl="revTx" presStyleIdx="0" presStyleCnt="2"/>
      <dgm:spPr/>
    </dgm:pt>
    <dgm:pt modelId="{9D765B7A-27BA-45C2-917D-BB8DFEBBDB59}" type="pres">
      <dgm:prSet presAssocID="{EF4AED4F-F3AF-48AF-8921-B20ECAA6DE62}" presName="vert1" presStyleCnt="0"/>
      <dgm:spPr/>
    </dgm:pt>
    <dgm:pt modelId="{56E15E31-E2D8-4263-A228-2F6B516A58AB}" type="pres">
      <dgm:prSet presAssocID="{4E5FB914-E438-43DB-845A-EA57C2E5BCE8}" presName="thickLine" presStyleLbl="alignNode1" presStyleIdx="1" presStyleCnt="2"/>
      <dgm:spPr/>
    </dgm:pt>
    <dgm:pt modelId="{47652861-EDDA-4D2C-A0B0-599AA249F836}" type="pres">
      <dgm:prSet presAssocID="{4E5FB914-E438-43DB-845A-EA57C2E5BCE8}" presName="horz1" presStyleCnt="0"/>
      <dgm:spPr/>
    </dgm:pt>
    <dgm:pt modelId="{5631172B-067F-467F-AF12-AE6E6E14DAEE}" type="pres">
      <dgm:prSet presAssocID="{4E5FB914-E438-43DB-845A-EA57C2E5BCE8}" presName="tx1" presStyleLbl="revTx" presStyleIdx="1" presStyleCnt="2"/>
      <dgm:spPr/>
    </dgm:pt>
    <dgm:pt modelId="{CDDCE630-3AC3-4681-BDDD-C6994BC01D08}" type="pres">
      <dgm:prSet presAssocID="{4E5FB914-E438-43DB-845A-EA57C2E5BCE8}" presName="vert1" presStyleCnt="0"/>
      <dgm:spPr/>
    </dgm:pt>
  </dgm:ptLst>
  <dgm:cxnLst>
    <dgm:cxn modelId="{8E0F1A11-62AE-4C36-AE75-344252DB270C}" type="presOf" srcId="{AB622569-3613-446D-BDE0-5F88E900EDD3}" destId="{1EBD37AC-A740-4F38-A7A2-BD0559AD0B69}" srcOrd="0" destOrd="0" presId="urn:microsoft.com/office/officeart/2008/layout/LinedList"/>
    <dgm:cxn modelId="{C0F80C22-B7D7-439C-844C-4A95EC4E82DF}" type="presOf" srcId="{EF4AED4F-F3AF-48AF-8921-B20ECAA6DE62}" destId="{9085006B-A548-4344-8AAA-B67F54F18076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64E947FC-0D79-4E7E-9DEA-C48231295464}" type="presOf" srcId="{4E5FB914-E438-43DB-845A-EA57C2E5BCE8}" destId="{5631172B-067F-467F-AF12-AE6E6E14DAEE}" srcOrd="0" destOrd="0" presId="urn:microsoft.com/office/officeart/2008/layout/LinedList"/>
    <dgm:cxn modelId="{5AC1DAAD-0588-4D53-964D-842F4F245563}" type="presParOf" srcId="{1EBD37AC-A740-4F38-A7A2-BD0559AD0B69}" destId="{DA700F2E-A06A-4E23-8252-FAD2CAF6B417}" srcOrd="0" destOrd="0" presId="urn:microsoft.com/office/officeart/2008/layout/LinedList"/>
    <dgm:cxn modelId="{44AC8D65-9AC6-4D4A-B09D-0105F96DF406}" type="presParOf" srcId="{1EBD37AC-A740-4F38-A7A2-BD0559AD0B69}" destId="{1CFC0F98-A689-4369-9873-6ED4D19C7F8C}" srcOrd="1" destOrd="0" presId="urn:microsoft.com/office/officeart/2008/layout/LinedList"/>
    <dgm:cxn modelId="{208F3C42-FD57-40B9-9B9F-7E2A42C31703}" type="presParOf" srcId="{1CFC0F98-A689-4369-9873-6ED4D19C7F8C}" destId="{9085006B-A548-4344-8AAA-B67F54F18076}" srcOrd="0" destOrd="0" presId="urn:microsoft.com/office/officeart/2008/layout/LinedList"/>
    <dgm:cxn modelId="{9DFFF13F-83E5-4771-8AF4-45B2C0C9FE0B}" type="presParOf" srcId="{1CFC0F98-A689-4369-9873-6ED4D19C7F8C}" destId="{9D765B7A-27BA-45C2-917D-BB8DFEBBDB59}" srcOrd="1" destOrd="0" presId="urn:microsoft.com/office/officeart/2008/layout/LinedList"/>
    <dgm:cxn modelId="{BCE61579-6979-49A8-BFAA-FBAC2DF2FD95}" type="presParOf" srcId="{1EBD37AC-A740-4F38-A7A2-BD0559AD0B69}" destId="{56E15E31-E2D8-4263-A228-2F6B516A58AB}" srcOrd="2" destOrd="0" presId="urn:microsoft.com/office/officeart/2008/layout/LinedList"/>
    <dgm:cxn modelId="{9DE41262-C7DF-448C-A6B1-AB1F592CDFB9}" type="presParOf" srcId="{1EBD37AC-A740-4F38-A7A2-BD0559AD0B69}" destId="{47652861-EDDA-4D2C-A0B0-599AA249F836}" srcOrd="3" destOrd="0" presId="urn:microsoft.com/office/officeart/2008/layout/LinedList"/>
    <dgm:cxn modelId="{EF13D74D-F30A-494D-BACB-734B5C53DF83}" type="presParOf" srcId="{47652861-EDDA-4D2C-A0B0-599AA249F836}" destId="{5631172B-067F-467F-AF12-AE6E6E14DAEE}" srcOrd="0" destOrd="0" presId="urn:microsoft.com/office/officeart/2008/layout/LinedList"/>
    <dgm:cxn modelId="{9559C13F-6F0C-48E6-A899-104A7FB1A465}" type="presParOf" srcId="{47652861-EDDA-4D2C-A0B0-599AA249F836}" destId="{CDDCE630-3AC3-4681-BDDD-C6994BC01D0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DFF89D2-2CB1-4BE2-96A7-8998F103A7B0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62D9CA-7E8C-4CF4-99B4-EB98773DD3F0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All models used the same processed training data with numeric features scaled and categorical features one hot encoded</a:t>
          </a:r>
        </a:p>
      </dgm:t>
    </dgm:pt>
    <dgm:pt modelId="{CA2DBBE0-EF39-4DE9-91EB-18AF1CA56504}" type="parTrans" cxnId="{52A9C461-95C9-413C-B3D2-282EE6F1E182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7C1ACFC-0B54-4170-A06E-AAE13E9BA38C}" type="sibTrans" cxnId="{52A9C461-95C9-413C-B3D2-282EE6F1E182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CE1DEAB-F081-46FE-8EC6-8DC9B85B8D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After tuning, </a:t>
          </a:r>
          <a:r>
            <a:rPr lang="en-US" sz="1500" b="1" dirty="0">
              <a:solidFill>
                <a:schemeClr val="tx2">
                  <a:lumMod val="60000"/>
                  <a:lumOff val="40000"/>
                </a:schemeClr>
              </a:solidFill>
            </a:rPr>
            <a:t>Random Forest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consistently achieved the best overall combination of accuracy, ROC AUC and recall for cancellations and was selected as the primary model for detailed evaluation and interpretation</a:t>
          </a:r>
        </a:p>
      </dgm:t>
    </dgm:pt>
    <dgm:pt modelId="{C84A2ACC-A7A7-4BD0-8CF6-DCB852A61A25}" type="parTrans" cxnId="{86839D81-27C4-4C32-ACD9-C05AD7B2A553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A795A599-C4ED-406D-B85D-488C4DFBA16B}" type="sibTrans" cxnId="{86839D81-27C4-4C32-ACD9-C05AD7B2A553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A342FF8-B411-40A6-A16D-415338025A9A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For each model we tuned key hyper parameters using cross validation on the training set with ROC AUC as the main selection metric</a:t>
          </a:r>
        </a:p>
      </dgm:t>
    </dgm:pt>
    <dgm:pt modelId="{C7B3B4CD-F7CB-4E8B-82A9-267D3246F249}" type="sibTrans" cxnId="{38C5DB4B-2EFF-4D2A-BC10-01A1CB2BABFD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3E44FE14-02DA-4C6C-95A3-C98B3A8E9D30}" type="parTrans" cxnId="{38C5DB4B-2EFF-4D2A-BC10-01A1CB2BABFD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93A40A40-1E14-40FE-BB53-64A50B487004}" type="pres">
      <dgm:prSet presAssocID="{7DFF89D2-2CB1-4BE2-96A7-8998F103A7B0}" presName="vert0" presStyleCnt="0">
        <dgm:presLayoutVars>
          <dgm:dir/>
          <dgm:animOne val="branch"/>
          <dgm:animLvl val="lvl"/>
        </dgm:presLayoutVars>
      </dgm:prSet>
      <dgm:spPr/>
    </dgm:pt>
    <dgm:pt modelId="{ADD2849C-335C-45D6-8B37-46DD66AAF302}" type="pres">
      <dgm:prSet presAssocID="{AB62D9CA-7E8C-4CF4-99B4-EB98773DD3F0}" presName="thickLine" presStyleLbl="alignNode1" presStyleIdx="0" presStyleCnt="3"/>
      <dgm:spPr/>
    </dgm:pt>
    <dgm:pt modelId="{C7D3C2B5-67C4-4647-97E4-2D3AE697F1CB}" type="pres">
      <dgm:prSet presAssocID="{AB62D9CA-7E8C-4CF4-99B4-EB98773DD3F0}" presName="horz1" presStyleCnt="0"/>
      <dgm:spPr/>
    </dgm:pt>
    <dgm:pt modelId="{E4EF4A84-878B-40B7-B909-51F3D546CC71}" type="pres">
      <dgm:prSet presAssocID="{AB62D9CA-7E8C-4CF4-99B4-EB98773DD3F0}" presName="tx1" presStyleLbl="revTx" presStyleIdx="0" presStyleCnt="3"/>
      <dgm:spPr/>
    </dgm:pt>
    <dgm:pt modelId="{B7493E41-9BFC-4ACA-A2A5-55E153B8FED6}" type="pres">
      <dgm:prSet presAssocID="{AB62D9CA-7E8C-4CF4-99B4-EB98773DD3F0}" presName="vert1" presStyleCnt="0"/>
      <dgm:spPr/>
    </dgm:pt>
    <dgm:pt modelId="{F59463EF-DE14-4202-AEEF-E690AD0E8376}" type="pres">
      <dgm:prSet presAssocID="{7A342FF8-B411-40A6-A16D-415338025A9A}" presName="thickLine" presStyleLbl="alignNode1" presStyleIdx="1" presStyleCnt="3"/>
      <dgm:spPr/>
    </dgm:pt>
    <dgm:pt modelId="{86EF9B3D-D1B7-4BE4-881F-832BE73FAE85}" type="pres">
      <dgm:prSet presAssocID="{7A342FF8-B411-40A6-A16D-415338025A9A}" presName="horz1" presStyleCnt="0"/>
      <dgm:spPr/>
    </dgm:pt>
    <dgm:pt modelId="{DA4DC940-FAA0-4C26-ABE1-F52C3701623F}" type="pres">
      <dgm:prSet presAssocID="{7A342FF8-B411-40A6-A16D-415338025A9A}" presName="tx1" presStyleLbl="revTx" presStyleIdx="1" presStyleCnt="3"/>
      <dgm:spPr/>
    </dgm:pt>
    <dgm:pt modelId="{3C627577-9488-4A6A-A01F-AD9ABD00B52D}" type="pres">
      <dgm:prSet presAssocID="{7A342FF8-B411-40A6-A16D-415338025A9A}" presName="vert1" presStyleCnt="0"/>
      <dgm:spPr/>
    </dgm:pt>
    <dgm:pt modelId="{F8E4C592-3F75-4EFD-97FE-CF2CEC403D24}" type="pres">
      <dgm:prSet presAssocID="{6CE1DEAB-F081-46FE-8EC6-8DC9B85B8DE8}" presName="thickLine" presStyleLbl="alignNode1" presStyleIdx="2" presStyleCnt="3"/>
      <dgm:spPr/>
    </dgm:pt>
    <dgm:pt modelId="{10566F8B-4B26-4ED5-974F-23C9E99E230B}" type="pres">
      <dgm:prSet presAssocID="{6CE1DEAB-F081-46FE-8EC6-8DC9B85B8DE8}" presName="horz1" presStyleCnt="0"/>
      <dgm:spPr/>
    </dgm:pt>
    <dgm:pt modelId="{31BC600A-8244-4DDE-A1ED-1657D0637B98}" type="pres">
      <dgm:prSet presAssocID="{6CE1DEAB-F081-46FE-8EC6-8DC9B85B8DE8}" presName="tx1" presStyleLbl="revTx" presStyleIdx="2" presStyleCnt="3"/>
      <dgm:spPr/>
    </dgm:pt>
    <dgm:pt modelId="{F4ED74FF-B2A1-4A00-BEF0-99A30F7C303B}" type="pres">
      <dgm:prSet presAssocID="{6CE1DEAB-F081-46FE-8EC6-8DC9B85B8DE8}" presName="vert1" presStyleCnt="0"/>
      <dgm:spPr/>
    </dgm:pt>
  </dgm:ptLst>
  <dgm:cxnLst>
    <dgm:cxn modelId="{7584F815-71F0-4838-8892-318F00108C0A}" type="presOf" srcId="{7DFF89D2-2CB1-4BE2-96A7-8998F103A7B0}" destId="{93A40A40-1E14-40FE-BB53-64A50B487004}" srcOrd="0" destOrd="0" presId="urn:microsoft.com/office/officeart/2008/layout/LinedList"/>
    <dgm:cxn modelId="{5667A43E-6B91-4E5A-993E-AF01EBCCC6F4}" type="presOf" srcId="{6CE1DEAB-F081-46FE-8EC6-8DC9B85B8DE8}" destId="{31BC600A-8244-4DDE-A1ED-1657D0637B98}" srcOrd="0" destOrd="0" presId="urn:microsoft.com/office/officeart/2008/layout/LinedList"/>
    <dgm:cxn modelId="{52A9C461-95C9-413C-B3D2-282EE6F1E182}" srcId="{7DFF89D2-2CB1-4BE2-96A7-8998F103A7B0}" destId="{AB62D9CA-7E8C-4CF4-99B4-EB98773DD3F0}" srcOrd="0" destOrd="0" parTransId="{CA2DBBE0-EF39-4DE9-91EB-18AF1CA56504}" sibTransId="{67C1ACFC-0B54-4170-A06E-AAE13E9BA38C}"/>
    <dgm:cxn modelId="{38C5DB4B-2EFF-4D2A-BC10-01A1CB2BABFD}" srcId="{7DFF89D2-2CB1-4BE2-96A7-8998F103A7B0}" destId="{7A342FF8-B411-40A6-A16D-415338025A9A}" srcOrd="1" destOrd="0" parTransId="{3E44FE14-02DA-4C6C-95A3-C98B3A8E9D30}" sibTransId="{C7B3B4CD-F7CB-4E8B-82A9-267D3246F249}"/>
    <dgm:cxn modelId="{86839D81-27C4-4C32-ACD9-C05AD7B2A553}" srcId="{7DFF89D2-2CB1-4BE2-96A7-8998F103A7B0}" destId="{6CE1DEAB-F081-46FE-8EC6-8DC9B85B8DE8}" srcOrd="2" destOrd="0" parTransId="{C84A2ACC-A7A7-4BD0-8CF6-DCB852A61A25}" sibTransId="{A795A599-C4ED-406D-B85D-488C4DFBA16B}"/>
    <dgm:cxn modelId="{C139978D-8E62-4324-B943-186D9427EB5B}" type="presOf" srcId="{AB62D9CA-7E8C-4CF4-99B4-EB98773DD3F0}" destId="{E4EF4A84-878B-40B7-B909-51F3D546CC71}" srcOrd="0" destOrd="0" presId="urn:microsoft.com/office/officeart/2008/layout/LinedList"/>
    <dgm:cxn modelId="{8B0B70E8-66BF-403B-9C8C-BD1193067E76}" type="presOf" srcId="{7A342FF8-B411-40A6-A16D-415338025A9A}" destId="{DA4DC940-FAA0-4C26-ABE1-F52C3701623F}" srcOrd="0" destOrd="0" presId="urn:microsoft.com/office/officeart/2008/layout/LinedList"/>
    <dgm:cxn modelId="{E5D6E524-6065-4659-AF5A-5C8A7ACD6066}" type="presParOf" srcId="{93A40A40-1E14-40FE-BB53-64A50B487004}" destId="{ADD2849C-335C-45D6-8B37-46DD66AAF302}" srcOrd="0" destOrd="0" presId="urn:microsoft.com/office/officeart/2008/layout/LinedList"/>
    <dgm:cxn modelId="{2085BA69-3FAD-4669-9406-7DB9D22026F7}" type="presParOf" srcId="{93A40A40-1E14-40FE-BB53-64A50B487004}" destId="{C7D3C2B5-67C4-4647-97E4-2D3AE697F1CB}" srcOrd="1" destOrd="0" presId="urn:microsoft.com/office/officeart/2008/layout/LinedList"/>
    <dgm:cxn modelId="{4AAD3DA7-8A94-47F4-98EA-43058E5177E7}" type="presParOf" srcId="{C7D3C2B5-67C4-4647-97E4-2D3AE697F1CB}" destId="{E4EF4A84-878B-40B7-B909-51F3D546CC71}" srcOrd="0" destOrd="0" presId="urn:microsoft.com/office/officeart/2008/layout/LinedList"/>
    <dgm:cxn modelId="{234B1F7E-9B87-4A1C-9BD1-10401F33D288}" type="presParOf" srcId="{C7D3C2B5-67C4-4647-97E4-2D3AE697F1CB}" destId="{B7493E41-9BFC-4ACA-A2A5-55E153B8FED6}" srcOrd="1" destOrd="0" presId="urn:microsoft.com/office/officeart/2008/layout/LinedList"/>
    <dgm:cxn modelId="{12BC5021-5286-4D0C-9880-64FC7A82BB2B}" type="presParOf" srcId="{93A40A40-1E14-40FE-BB53-64A50B487004}" destId="{F59463EF-DE14-4202-AEEF-E690AD0E8376}" srcOrd="2" destOrd="0" presId="urn:microsoft.com/office/officeart/2008/layout/LinedList"/>
    <dgm:cxn modelId="{E3364B5D-4DEC-45E2-AB99-BD523332502F}" type="presParOf" srcId="{93A40A40-1E14-40FE-BB53-64A50B487004}" destId="{86EF9B3D-D1B7-4BE4-881F-832BE73FAE85}" srcOrd="3" destOrd="0" presId="urn:microsoft.com/office/officeart/2008/layout/LinedList"/>
    <dgm:cxn modelId="{BA24F6A1-FF12-4CBE-9342-60261C35FFD3}" type="presParOf" srcId="{86EF9B3D-D1B7-4BE4-881F-832BE73FAE85}" destId="{DA4DC940-FAA0-4C26-ABE1-F52C3701623F}" srcOrd="0" destOrd="0" presId="urn:microsoft.com/office/officeart/2008/layout/LinedList"/>
    <dgm:cxn modelId="{8FF5D45F-FD2E-40F9-80A3-A6CCAAB42047}" type="presParOf" srcId="{86EF9B3D-D1B7-4BE4-881F-832BE73FAE85}" destId="{3C627577-9488-4A6A-A01F-AD9ABD00B52D}" srcOrd="1" destOrd="0" presId="urn:microsoft.com/office/officeart/2008/layout/LinedList"/>
    <dgm:cxn modelId="{58E55FD7-802E-43EC-B1A8-F6532C37DE49}" type="presParOf" srcId="{93A40A40-1E14-40FE-BB53-64A50B487004}" destId="{F8E4C592-3F75-4EFD-97FE-CF2CEC403D24}" srcOrd="4" destOrd="0" presId="urn:microsoft.com/office/officeart/2008/layout/LinedList"/>
    <dgm:cxn modelId="{5311EBD7-0F9E-4D11-BBBD-2876A071101B}" type="presParOf" srcId="{93A40A40-1E14-40FE-BB53-64A50B487004}" destId="{10566F8B-4B26-4ED5-974F-23C9E99E230B}" srcOrd="5" destOrd="0" presId="urn:microsoft.com/office/officeart/2008/layout/LinedList"/>
    <dgm:cxn modelId="{C1A7D235-AE83-40D5-8FE2-66E5F3525B8B}" type="presParOf" srcId="{10566F8B-4B26-4ED5-974F-23C9E99E230B}" destId="{31BC600A-8244-4DDE-A1ED-1657D0637B98}" srcOrd="0" destOrd="0" presId="urn:microsoft.com/office/officeart/2008/layout/LinedList"/>
    <dgm:cxn modelId="{C352D8C8-70A2-45C7-BA71-C2AD6B04D3AA}" type="presParOf" srcId="{10566F8B-4B26-4ED5-974F-23C9E99E230B}" destId="{F4ED74FF-B2A1-4A00-BEF0-99A30F7C303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DFF89D2-2CB1-4BE2-96A7-8998F103A7B0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62D9CA-7E8C-4CF4-99B4-EB98773DD3F0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We evaluated all models on a held-out test set that was never used during training</a:t>
          </a:r>
        </a:p>
      </dgm:t>
    </dgm:pt>
    <dgm:pt modelId="{CA2DBBE0-EF39-4DE9-91EB-18AF1CA56504}" type="parTrans" cxnId="{52A9C461-95C9-413C-B3D2-282EE6F1E182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7C1ACFC-0B54-4170-A06E-AAE13E9BA38C}" type="sibTrans" cxnId="{52A9C461-95C9-413C-B3D2-282EE6F1E182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A342FF8-B411-40A6-A16D-415338025A9A}">
      <dgm:prSet custT="1"/>
      <dgm:spPr/>
      <dgm:t>
        <a:bodyPr/>
        <a:lstStyle/>
        <a:p>
          <a:r>
            <a:rPr lang="en-US" sz="1500" b="1" dirty="0">
              <a:solidFill>
                <a:schemeClr val="tx2">
                  <a:lumMod val="60000"/>
                  <a:lumOff val="40000"/>
                </a:schemeClr>
              </a:solidFill>
            </a:rPr>
            <a:t>Main metrics used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Accuracy to measure overall proportion of correctly classified bookings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ROC AUC to measure how well the model separates cancelled from not cancelled bookings across all possible thresholds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Precision, recall and F one score for each class to understand the trade off between missed cancellations and false alarms</a:t>
          </a:r>
        </a:p>
      </dgm:t>
    </dgm:pt>
    <dgm:pt modelId="{C7B3B4CD-F7CB-4E8B-82A9-267D3246F249}" type="sibTrans" cxnId="{38C5DB4B-2EFF-4D2A-BC10-01A1CB2BABFD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3E44FE14-02DA-4C6C-95A3-C98B3A8E9D30}" type="parTrans" cxnId="{38C5DB4B-2EFF-4D2A-BC10-01A1CB2BABFD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D0E42E7F-C437-463C-BD3C-4460B99AE7FA}" type="pres">
      <dgm:prSet presAssocID="{7DFF89D2-2CB1-4BE2-96A7-8998F103A7B0}" presName="vert0" presStyleCnt="0">
        <dgm:presLayoutVars>
          <dgm:dir/>
          <dgm:animOne val="branch"/>
          <dgm:animLvl val="lvl"/>
        </dgm:presLayoutVars>
      </dgm:prSet>
      <dgm:spPr/>
    </dgm:pt>
    <dgm:pt modelId="{0E502B89-2D2F-4B72-8918-ED9CC53D2CBF}" type="pres">
      <dgm:prSet presAssocID="{AB62D9CA-7E8C-4CF4-99B4-EB98773DD3F0}" presName="thickLine" presStyleLbl="alignNode1" presStyleIdx="0" presStyleCnt="2"/>
      <dgm:spPr/>
    </dgm:pt>
    <dgm:pt modelId="{A650917E-5BEF-418A-88A8-AFB89E83858F}" type="pres">
      <dgm:prSet presAssocID="{AB62D9CA-7E8C-4CF4-99B4-EB98773DD3F0}" presName="horz1" presStyleCnt="0"/>
      <dgm:spPr/>
    </dgm:pt>
    <dgm:pt modelId="{083D0FED-B5BC-4FC8-A9AB-2731872BD01C}" type="pres">
      <dgm:prSet presAssocID="{AB62D9CA-7E8C-4CF4-99B4-EB98773DD3F0}" presName="tx1" presStyleLbl="revTx" presStyleIdx="0" presStyleCnt="2"/>
      <dgm:spPr/>
    </dgm:pt>
    <dgm:pt modelId="{E18F6B29-6A79-4AB3-9350-5407BEE44709}" type="pres">
      <dgm:prSet presAssocID="{AB62D9CA-7E8C-4CF4-99B4-EB98773DD3F0}" presName="vert1" presStyleCnt="0"/>
      <dgm:spPr/>
    </dgm:pt>
    <dgm:pt modelId="{DDF84F56-05E4-419F-AE80-65B75BE64B84}" type="pres">
      <dgm:prSet presAssocID="{7A342FF8-B411-40A6-A16D-415338025A9A}" presName="thickLine" presStyleLbl="alignNode1" presStyleIdx="1" presStyleCnt="2"/>
      <dgm:spPr/>
    </dgm:pt>
    <dgm:pt modelId="{860C02D4-4728-4458-A164-821C1E74CE97}" type="pres">
      <dgm:prSet presAssocID="{7A342FF8-B411-40A6-A16D-415338025A9A}" presName="horz1" presStyleCnt="0"/>
      <dgm:spPr/>
    </dgm:pt>
    <dgm:pt modelId="{9E2DAC9E-71AC-4310-A1EC-14CBE1347ABF}" type="pres">
      <dgm:prSet presAssocID="{7A342FF8-B411-40A6-A16D-415338025A9A}" presName="tx1" presStyleLbl="revTx" presStyleIdx="1" presStyleCnt="2"/>
      <dgm:spPr/>
    </dgm:pt>
    <dgm:pt modelId="{959B700A-6425-4DAD-9A47-C4625696F33B}" type="pres">
      <dgm:prSet presAssocID="{7A342FF8-B411-40A6-A16D-415338025A9A}" presName="vert1" presStyleCnt="0"/>
      <dgm:spPr/>
    </dgm:pt>
  </dgm:ptLst>
  <dgm:cxnLst>
    <dgm:cxn modelId="{1E8C1C1D-D733-475A-AE57-810B7C637EAE}" type="presOf" srcId="{7A342FF8-B411-40A6-A16D-415338025A9A}" destId="{9E2DAC9E-71AC-4310-A1EC-14CBE1347ABF}" srcOrd="0" destOrd="0" presId="urn:microsoft.com/office/officeart/2008/layout/LinedList"/>
    <dgm:cxn modelId="{52A9C461-95C9-413C-B3D2-282EE6F1E182}" srcId="{7DFF89D2-2CB1-4BE2-96A7-8998F103A7B0}" destId="{AB62D9CA-7E8C-4CF4-99B4-EB98773DD3F0}" srcOrd="0" destOrd="0" parTransId="{CA2DBBE0-EF39-4DE9-91EB-18AF1CA56504}" sibTransId="{67C1ACFC-0B54-4170-A06E-AAE13E9BA38C}"/>
    <dgm:cxn modelId="{38C5DB4B-2EFF-4D2A-BC10-01A1CB2BABFD}" srcId="{7DFF89D2-2CB1-4BE2-96A7-8998F103A7B0}" destId="{7A342FF8-B411-40A6-A16D-415338025A9A}" srcOrd="1" destOrd="0" parTransId="{3E44FE14-02DA-4C6C-95A3-C98B3A8E9D30}" sibTransId="{C7B3B4CD-F7CB-4E8B-82A9-267D3246F249}"/>
    <dgm:cxn modelId="{F0CFBBBA-1ED9-427E-B2E7-E0574679E199}" type="presOf" srcId="{AB62D9CA-7E8C-4CF4-99B4-EB98773DD3F0}" destId="{083D0FED-B5BC-4FC8-A9AB-2731872BD01C}" srcOrd="0" destOrd="0" presId="urn:microsoft.com/office/officeart/2008/layout/LinedList"/>
    <dgm:cxn modelId="{978D90FB-6364-4E7C-A59C-EDC6CE1AA77A}" type="presOf" srcId="{7DFF89D2-2CB1-4BE2-96A7-8998F103A7B0}" destId="{D0E42E7F-C437-463C-BD3C-4460B99AE7FA}" srcOrd="0" destOrd="0" presId="urn:microsoft.com/office/officeart/2008/layout/LinedList"/>
    <dgm:cxn modelId="{B8724F37-1CBF-4752-9F17-5A4EE6937084}" type="presParOf" srcId="{D0E42E7F-C437-463C-BD3C-4460B99AE7FA}" destId="{0E502B89-2D2F-4B72-8918-ED9CC53D2CBF}" srcOrd="0" destOrd="0" presId="urn:microsoft.com/office/officeart/2008/layout/LinedList"/>
    <dgm:cxn modelId="{9D8043FE-459C-49CA-9013-6608E44E5536}" type="presParOf" srcId="{D0E42E7F-C437-463C-BD3C-4460B99AE7FA}" destId="{A650917E-5BEF-418A-88A8-AFB89E83858F}" srcOrd="1" destOrd="0" presId="urn:microsoft.com/office/officeart/2008/layout/LinedList"/>
    <dgm:cxn modelId="{F7F0D3C9-2372-400A-952C-BEAA819B560B}" type="presParOf" srcId="{A650917E-5BEF-418A-88A8-AFB89E83858F}" destId="{083D0FED-B5BC-4FC8-A9AB-2731872BD01C}" srcOrd="0" destOrd="0" presId="urn:microsoft.com/office/officeart/2008/layout/LinedList"/>
    <dgm:cxn modelId="{A2D3525F-518D-41E3-A88C-5BB10EE77FB4}" type="presParOf" srcId="{A650917E-5BEF-418A-88A8-AFB89E83858F}" destId="{E18F6B29-6A79-4AB3-9350-5407BEE44709}" srcOrd="1" destOrd="0" presId="urn:microsoft.com/office/officeart/2008/layout/LinedList"/>
    <dgm:cxn modelId="{A885C40B-107C-4FBD-85F7-3A6C32233F18}" type="presParOf" srcId="{D0E42E7F-C437-463C-BD3C-4460B99AE7FA}" destId="{DDF84F56-05E4-419F-AE80-65B75BE64B84}" srcOrd="2" destOrd="0" presId="urn:microsoft.com/office/officeart/2008/layout/LinedList"/>
    <dgm:cxn modelId="{4D3DDD7B-D42E-4689-A0F4-C492586D7F8B}" type="presParOf" srcId="{D0E42E7F-C437-463C-BD3C-4460B99AE7FA}" destId="{860C02D4-4728-4458-A164-821C1E74CE97}" srcOrd="3" destOrd="0" presId="urn:microsoft.com/office/officeart/2008/layout/LinedList"/>
    <dgm:cxn modelId="{6A828774-E117-4407-B38D-0B53CC84370B}" type="presParOf" srcId="{860C02D4-4728-4458-A164-821C1E74CE97}" destId="{9E2DAC9E-71AC-4310-A1EC-14CBE1347ABF}" srcOrd="0" destOrd="0" presId="urn:microsoft.com/office/officeart/2008/layout/LinedList"/>
    <dgm:cxn modelId="{3633587A-D558-4E28-A7E2-625DAEA5F9E9}" type="presParOf" srcId="{860C02D4-4728-4458-A164-821C1E74CE97}" destId="{959B700A-6425-4DAD-9A47-C4625696F33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7A5E726-F5A5-431E-9C84-6744CACACFE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4665A96-E8BF-4551-A858-F39DA73DF457}">
      <dgm:prSet custT="1"/>
      <dgm:spPr/>
      <dgm:t>
        <a:bodyPr/>
        <a:lstStyle/>
        <a:p>
          <a:r>
            <a:rPr lang="en-US" sz="1500" b="1" dirty="0">
              <a:solidFill>
                <a:schemeClr val="tx2">
                  <a:lumMod val="60000"/>
                  <a:lumOff val="40000"/>
                </a:schemeClr>
              </a:solidFill>
            </a:rPr>
            <a:t>Business focus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We care especially about recall for the cancellation class because missed cancellations lead to empty rooms and revenue loss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We also monitor the number of false alarms because too many high-risk flags would confuse operations</a:t>
          </a:r>
        </a:p>
      </dgm:t>
    </dgm:pt>
    <dgm:pt modelId="{F48FF89C-5E74-4CE6-B59C-3565E6B55312}" type="parTrans" cxnId="{85DEFCB7-68C0-4B0F-8651-11E57FBBA3DA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C441CE3-6FA4-41E5-97E9-2CD36863AAB8}" type="sibTrans" cxnId="{85DEFCB7-68C0-4B0F-8651-11E57FBBA3DA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1C57A75-A787-4D7F-9AAC-0A0BA503AAF1}">
      <dgm:prSet custT="1"/>
      <dgm:spPr/>
      <dgm:t>
        <a:bodyPr/>
        <a:lstStyle/>
        <a:p>
          <a:r>
            <a:rPr lang="en-US" sz="1500" b="1" dirty="0">
              <a:solidFill>
                <a:schemeClr val="tx2">
                  <a:lumMod val="60000"/>
                  <a:lumOff val="40000"/>
                </a:schemeClr>
              </a:solidFill>
            </a:rPr>
            <a:t>Summary of results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Logistic regression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and single decision trees provide reasonable baselines but lower ROC AUC and lower recall for cancellations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K nearest </a:t>
          </a:r>
          <a:r>
            <a:rPr lang="en-US" sz="1500" i="1" dirty="0" err="1">
              <a:solidFill>
                <a:schemeClr val="tx2">
                  <a:lumMod val="60000"/>
                  <a:lumOff val="40000"/>
                </a:schemeClr>
              </a:solidFill>
            </a:rPr>
            <a:t>neighbour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and the neural network clearly improve performance over the baselines</a:t>
          </a:r>
        </a:p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dirty="0">
              <a:solidFill>
                <a:schemeClr val="tx2">
                  <a:lumMod val="60000"/>
                  <a:lumOff val="40000"/>
                </a:schemeClr>
              </a:solidFill>
            </a:rPr>
            <a:t>Random Forest </a:t>
          </a:r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achieves the strongest overall performance, with test accuracy around the mid eighties and ROC AUC around zero point nine four and recall for cancellations in the low eighties</a:t>
          </a:r>
        </a:p>
      </dgm:t>
    </dgm:pt>
    <dgm:pt modelId="{00A1DC07-F001-4BF9-9B84-2050D05EF187}" type="parTrans" cxnId="{30D30CA2-0FF1-4E6A-BEA3-6EB22669A892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36BE959-C278-4777-8CF0-D1F10457B3EE}" type="sibTrans" cxnId="{30D30CA2-0FF1-4E6A-BEA3-6EB22669A892}">
      <dgm:prSet/>
      <dgm:spPr/>
      <dgm:t>
        <a:bodyPr/>
        <a:lstStyle/>
        <a:p>
          <a:endParaRPr lang="en-US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A9A6AFA3-9BA1-4E6C-9D5C-0F075F8824B8}" type="pres">
      <dgm:prSet presAssocID="{77A5E726-F5A5-431E-9C84-6744CACACFE5}" presName="vert0" presStyleCnt="0">
        <dgm:presLayoutVars>
          <dgm:dir/>
          <dgm:animOne val="branch"/>
          <dgm:animLvl val="lvl"/>
        </dgm:presLayoutVars>
      </dgm:prSet>
      <dgm:spPr/>
    </dgm:pt>
    <dgm:pt modelId="{F5C3B881-E799-4C48-A797-9ADE30DBDB6B}" type="pres">
      <dgm:prSet presAssocID="{F4665A96-E8BF-4551-A858-F39DA73DF457}" presName="thickLine" presStyleLbl="alignNode1" presStyleIdx="0" presStyleCnt="2"/>
      <dgm:spPr/>
    </dgm:pt>
    <dgm:pt modelId="{93EAF50E-33D4-4CEC-90E8-1581C0496338}" type="pres">
      <dgm:prSet presAssocID="{F4665A96-E8BF-4551-A858-F39DA73DF457}" presName="horz1" presStyleCnt="0"/>
      <dgm:spPr/>
    </dgm:pt>
    <dgm:pt modelId="{BAD04CA7-CA30-44AF-BD14-216102F82C96}" type="pres">
      <dgm:prSet presAssocID="{F4665A96-E8BF-4551-A858-F39DA73DF457}" presName="tx1" presStyleLbl="revTx" presStyleIdx="0" presStyleCnt="2"/>
      <dgm:spPr/>
    </dgm:pt>
    <dgm:pt modelId="{B292ADFC-0615-474F-9871-C1583F8A7ABC}" type="pres">
      <dgm:prSet presAssocID="{F4665A96-E8BF-4551-A858-F39DA73DF457}" presName="vert1" presStyleCnt="0"/>
      <dgm:spPr/>
    </dgm:pt>
    <dgm:pt modelId="{3751FD71-6A8F-4FBD-A033-C00B0B1A5606}" type="pres">
      <dgm:prSet presAssocID="{61C57A75-A787-4D7F-9AAC-0A0BA503AAF1}" presName="thickLine" presStyleLbl="alignNode1" presStyleIdx="1" presStyleCnt="2"/>
      <dgm:spPr/>
    </dgm:pt>
    <dgm:pt modelId="{34DD3A19-A302-4CD1-ABA0-BA8554681815}" type="pres">
      <dgm:prSet presAssocID="{61C57A75-A787-4D7F-9AAC-0A0BA503AAF1}" presName="horz1" presStyleCnt="0"/>
      <dgm:spPr/>
    </dgm:pt>
    <dgm:pt modelId="{41F90DBE-3EF5-45FE-8B2D-5184E126DFDA}" type="pres">
      <dgm:prSet presAssocID="{61C57A75-A787-4D7F-9AAC-0A0BA503AAF1}" presName="tx1" presStyleLbl="revTx" presStyleIdx="1" presStyleCnt="2"/>
      <dgm:spPr/>
    </dgm:pt>
    <dgm:pt modelId="{4547655D-F742-46D2-BF7B-30C589121A47}" type="pres">
      <dgm:prSet presAssocID="{61C57A75-A787-4D7F-9AAC-0A0BA503AAF1}" presName="vert1" presStyleCnt="0"/>
      <dgm:spPr/>
    </dgm:pt>
  </dgm:ptLst>
  <dgm:cxnLst>
    <dgm:cxn modelId="{F0795004-DE21-4266-A415-7280ADABFAA3}" type="presOf" srcId="{F4665A96-E8BF-4551-A858-F39DA73DF457}" destId="{BAD04CA7-CA30-44AF-BD14-216102F82C96}" srcOrd="0" destOrd="0" presId="urn:microsoft.com/office/officeart/2008/layout/LinedList"/>
    <dgm:cxn modelId="{A274DF62-EFC9-431D-BAF9-3C9CE2BAE584}" type="presOf" srcId="{61C57A75-A787-4D7F-9AAC-0A0BA503AAF1}" destId="{41F90DBE-3EF5-45FE-8B2D-5184E126DFDA}" srcOrd="0" destOrd="0" presId="urn:microsoft.com/office/officeart/2008/layout/LinedList"/>
    <dgm:cxn modelId="{BEE2099C-3BB3-471D-8C6D-F683A8A3A738}" type="presOf" srcId="{77A5E726-F5A5-431E-9C84-6744CACACFE5}" destId="{A9A6AFA3-9BA1-4E6C-9D5C-0F075F8824B8}" srcOrd="0" destOrd="0" presId="urn:microsoft.com/office/officeart/2008/layout/LinedList"/>
    <dgm:cxn modelId="{30D30CA2-0FF1-4E6A-BEA3-6EB22669A892}" srcId="{77A5E726-F5A5-431E-9C84-6744CACACFE5}" destId="{61C57A75-A787-4D7F-9AAC-0A0BA503AAF1}" srcOrd="1" destOrd="0" parTransId="{00A1DC07-F001-4BF9-9B84-2050D05EF187}" sibTransId="{436BE959-C278-4777-8CF0-D1F10457B3EE}"/>
    <dgm:cxn modelId="{85DEFCB7-68C0-4B0F-8651-11E57FBBA3DA}" srcId="{77A5E726-F5A5-431E-9C84-6744CACACFE5}" destId="{F4665A96-E8BF-4551-A858-F39DA73DF457}" srcOrd="0" destOrd="0" parTransId="{F48FF89C-5E74-4CE6-B59C-3565E6B55312}" sibTransId="{8C441CE3-6FA4-41E5-97E9-2CD36863AAB8}"/>
    <dgm:cxn modelId="{F4D50765-DDE6-41DB-85F4-78758F92521E}" type="presParOf" srcId="{A9A6AFA3-9BA1-4E6C-9D5C-0F075F8824B8}" destId="{F5C3B881-E799-4C48-A797-9ADE30DBDB6B}" srcOrd="0" destOrd="0" presId="urn:microsoft.com/office/officeart/2008/layout/LinedList"/>
    <dgm:cxn modelId="{0DE48F57-76A0-44B8-9AB0-C92D7AF13A16}" type="presParOf" srcId="{A9A6AFA3-9BA1-4E6C-9D5C-0F075F8824B8}" destId="{93EAF50E-33D4-4CEC-90E8-1581C0496338}" srcOrd="1" destOrd="0" presId="urn:microsoft.com/office/officeart/2008/layout/LinedList"/>
    <dgm:cxn modelId="{F7E6C21C-6FCC-470E-A567-D765B7D64552}" type="presParOf" srcId="{93EAF50E-33D4-4CEC-90E8-1581C0496338}" destId="{BAD04CA7-CA30-44AF-BD14-216102F82C96}" srcOrd="0" destOrd="0" presId="urn:microsoft.com/office/officeart/2008/layout/LinedList"/>
    <dgm:cxn modelId="{85732257-76D9-4D42-BD70-22D1E808390E}" type="presParOf" srcId="{93EAF50E-33D4-4CEC-90E8-1581C0496338}" destId="{B292ADFC-0615-474F-9871-C1583F8A7ABC}" srcOrd="1" destOrd="0" presId="urn:microsoft.com/office/officeart/2008/layout/LinedList"/>
    <dgm:cxn modelId="{E0C9A610-BA18-4019-B2FA-964E84E65DD9}" type="presParOf" srcId="{A9A6AFA3-9BA1-4E6C-9D5C-0F075F8824B8}" destId="{3751FD71-6A8F-4FBD-A033-C00B0B1A5606}" srcOrd="2" destOrd="0" presId="urn:microsoft.com/office/officeart/2008/layout/LinedList"/>
    <dgm:cxn modelId="{E3D272EC-00E6-4EEC-B686-C01C8601B0A1}" type="presParOf" srcId="{A9A6AFA3-9BA1-4E6C-9D5C-0F075F8824B8}" destId="{34DD3A19-A302-4CD1-ABA0-BA8554681815}" srcOrd="3" destOrd="0" presId="urn:microsoft.com/office/officeart/2008/layout/LinedList"/>
    <dgm:cxn modelId="{966583D2-C375-4409-8A13-277534B9F19A}" type="presParOf" srcId="{34DD3A19-A302-4CD1-ABA0-BA8554681815}" destId="{41F90DBE-3EF5-45FE-8B2D-5184E126DFDA}" srcOrd="0" destOrd="0" presId="urn:microsoft.com/office/officeart/2008/layout/LinedList"/>
    <dgm:cxn modelId="{E92D7BFD-31A4-4D85-B129-4B80AB18B4A7}" type="presParOf" srcId="{34DD3A19-A302-4CD1-ABA0-BA8554681815}" destId="{4547655D-F742-46D2-BF7B-30C589121A4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F4AED4F-F3AF-48AF-8921-B20ECAA6DE62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The final Random Forest model can be wrapped inside a simple service or script that connects to the hotel booking system</a:t>
          </a: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When a new booking is created or an existing booking is updated, the system sends the relevant features through the same preprocessing steps used during training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588C9B9-9D29-42D9-AD52-61726AAF93D4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The model returns a predicted probability of cancellation for that booking, along with a simple risk label such as low risk, medium risk or high risk</a:t>
          </a:r>
        </a:p>
      </dgm:t>
    </dgm:pt>
    <dgm:pt modelId="{EC52EF3C-F953-423B-A626-38A5C9F35358}" type="par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D572E80-67C1-48FD-831D-E4120ED97096}" type="sib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A4A14B6E-6A8D-4438-B9A6-52717CFEEE75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Revenue managers can use predicted cancellation probabilities to plan over booking levels for each arrival date in a more data driven way</a:t>
          </a:r>
        </a:p>
      </dgm:t>
    </dgm:pt>
    <dgm:pt modelId="{09936264-362B-47CD-8833-D9B8C12CE4B5}" type="parTrans" cxnId="{D0BE1807-E809-451D-84FA-FFF17E3E6C74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451CA75-4A9B-4CE7-B30F-266325FDCA17}" type="sibTrans" cxnId="{D0BE1807-E809-451D-84FA-FFF17E3E6C74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C23E114-2F20-4287-87A5-B587D4F60FD4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EE936CBB-C041-4046-8CCD-61C0CB40406B}" type="pres">
      <dgm:prSet presAssocID="{EF4AED4F-F3AF-48AF-8921-B20ECAA6DE62}" presName="thickLine" presStyleLbl="alignNode1" presStyleIdx="0" presStyleCnt="4"/>
      <dgm:spPr/>
    </dgm:pt>
    <dgm:pt modelId="{47FF32FD-8DCC-40CE-AD44-F57D7B1BC1CE}" type="pres">
      <dgm:prSet presAssocID="{EF4AED4F-F3AF-48AF-8921-B20ECAA6DE62}" presName="horz1" presStyleCnt="0"/>
      <dgm:spPr/>
    </dgm:pt>
    <dgm:pt modelId="{6A7CB69A-A17F-4681-9CFB-26F63B9B14FB}" type="pres">
      <dgm:prSet presAssocID="{EF4AED4F-F3AF-48AF-8921-B20ECAA6DE62}" presName="tx1" presStyleLbl="revTx" presStyleIdx="0" presStyleCnt="4"/>
      <dgm:spPr/>
    </dgm:pt>
    <dgm:pt modelId="{12939C45-FB76-4EE3-ACA3-BBF89EBB8F6B}" type="pres">
      <dgm:prSet presAssocID="{EF4AED4F-F3AF-48AF-8921-B20ECAA6DE62}" presName="vert1" presStyleCnt="0"/>
      <dgm:spPr/>
    </dgm:pt>
    <dgm:pt modelId="{2C8E1498-3A03-430C-9354-446791A4C3CC}" type="pres">
      <dgm:prSet presAssocID="{4E5FB914-E438-43DB-845A-EA57C2E5BCE8}" presName="thickLine" presStyleLbl="alignNode1" presStyleIdx="1" presStyleCnt="4"/>
      <dgm:spPr/>
    </dgm:pt>
    <dgm:pt modelId="{08497719-4ABA-4441-A577-229FCFE1DA91}" type="pres">
      <dgm:prSet presAssocID="{4E5FB914-E438-43DB-845A-EA57C2E5BCE8}" presName="horz1" presStyleCnt="0"/>
      <dgm:spPr/>
    </dgm:pt>
    <dgm:pt modelId="{B06646DD-0A19-41BC-B3D3-FF38AD66A010}" type="pres">
      <dgm:prSet presAssocID="{4E5FB914-E438-43DB-845A-EA57C2E5BCE8}" presName="tx1" presStyleLbl="revTx" presStyleIdx="1" presStyleCnt="4"/>
      <dgm:spPr/>
    </dgm:pt>
    <dgm:pt modelId="{5772393C-B345-4AF9-8D37-B093067B7C67}" type="pres">
      <dgm:prSet presAssocID="{4E5FB914-E438-43DB-845A-EA57C2E5BCE8}" presName="vert1" presStyleCnt="0"/>
      <dgm:spPr/>
    </dgm:pt>
    <dgm:pt modelId="{1739DA94-91E3-40CF-A691-F64F5173FF1C}" type="pres">
      <dgm:prSet presAssocID="{E588C9B9-9D29-42D9-AD52-61726AAF93D4}" presName="thickLine" presStyleLbl="alignNode1" presStyleIdx="2" presStyleCnt="4"/>
      <dgm:spPr/>
    </dgm:pt>
    <dgm:pt modelId="{FACC861D-91D2-4CB9-A60A-3FA776BBD9DD}" type="pres">
      <dgm:prSet presAssocID="{E588C9B9-9D29-42D9-AD52-61726AAF93D4}" presName="horz1" presStyleCnt="0"/>
      <dgm:spPr/>
    </dgm:pt>
    <dgm:pt modelId="{E46D29C0-68E1-4B06-BF5B-DEA310B09604}" type="pres">
      <dgm:prSet presAssocID="{E588C9B9-9D29-42D9-AD52-61726AAF93D4}" presName="tx1" presStyleLbl="revTx" presStyleIdx="2" presStyleCnt="4"/>
      <dgm:spPr/>
    </dgm:pt>
    <dgm:pt modelId="{77D5E452-CD69-412C-9B2E-969E663071B8}" type="pres">
      <dgm:prSet presAssocID="{E588C9B9-9D29-42D9-AD52-61726AAF93D4}" presName="vert1" presStyleCnt="0"/>
      <dgm:spPr/>
    </dgm:pt>
    <dgm:pt modelId="{8D07A89A-BB99-4707-ACCD-7DBB6F3CF6B8}" type="pres">
      <dgm:prSet presAssocID="{A4A14B6E-6A8D-4438-B9A6-52717CFEEE75}" presName="thickLine" presStyleLbl="alignNode1" presStyleIdx="3" presStyleCnt="4"/>
      <dgm:spPr/>
    </dgm:pt>
    <dgm:pt modelId="{1C4C3C67-93C7-4DE5-8C44-BB3B9C0FFE78}" type="pres">
      <dgm:prSet presAssocID="{A4A14B6E-6A8D-4438-B9A6-52717CFEEE75}" presName="horz1" presStyleCnt="0"/>
      <dgm:spPr/>
    </dgm:pt>
    <dgm:pt modelId="{2FD6628E-A900-46A1-B2BE-21E0EDB97FE6}" type="pres">
      <dgm:prSet presAssocID="{A4A14B6E-6A8D-4438-B9A6-52717CFEEE75}" presName="tx1" presStyleLbl="revTx" presStyleIdx="3" presStyleCnt="4"/>
      <dgm:spPr/>
    </dgm:pt>
    <dgm:pt modelId="{1E9A2779-BDDD-41AF-8699-2F3DBAB25D96}" type="pres">
      <dgm:prSet presAssocID="{A4A14B6E-6A8D-4438-B9A6-52717CFEEE75}" presName="vert1" presStyleCnt="0"/>
      <dgm:spPr/>
    </dgm:pt>
  </dgm:ptLst>
  <dgm:cxnLst>
    <dgm:cxn modelId="{D0BE1807-E809-451D-84FA-FFF17E3E6C74}" srcId="{AB622569-3613-446D-BDE0-5F88E900EDD3}" destId="{A4A14B6E-6A8D-4438-B9A6-52717CFEEE75}" srcOrd="3" destOrd="0" parTransId="{09936264-362B-47CD-8833-D9B8C12CE4B5}" sibTransId="{8451CA75-4A9B-4CE7-B30F-266325FDCA17}"/>
    <dgm:cxn modelId="{4D92422F-7A9B-46DA-9D42-2A294D66BEA9}" type="presOf" srcId="{EF4AED4F-F3AF-48AF-8921-B20ECAA6DE62}" destId="{6A7CB69A-A17F-4681-9CFB-26F63B9B14FB}" srcOrd="0" destOrd="0" presId="urn:microsoft.com/office/officeart/2008/layout/LinedList"/>
    <dgm:cxn modelId="{0302DF62-CDD5-471C-AF25-6B243E95D2B2}" type="presOf" srcId="{AB622569-3613-446D-BDE0-5F88E900EDD3}" destId="{6C23E114-2F20-4287-87A5-B587D4F60FD4}" srcOrd="0" destOrd="0" presId="urn:microsoft.com/office/officeart/2008/layout/LinedList"/>
    <dgm:cxn modelId="{61740946-5339-4358-AE75-69F32D8DB482}" type="presOf" srcId="{E588C9B9-9D29-42D9-AD52-61726AAF93D4}" destId="{E46D29C0-68E1-4B06-BF5B-DEA310B09604}" srcOrd="0" destOrd="0" presId="urn:microsoft.com/office/officeart/2008/layout/LinedList"/>
    <dgm:cxn modelId="{75D74071-BEC0-4421-B4AD-6D6A5CE8F80A}" type="presOf" srcId="{4E5FB914-E438-43DB-845A-EA57C2E5BCE8}" destId="{B06646DD-0A19-41BC-B3D3-FF38AD66A010}" srcOrd="0" destOrd="0" presId="urn:microsoft.com/office/officeart/2008/layout/LinedList"/>
    <dgm:cxn modelId="{DF05D272-D532-4A11-97F9-E4566C7CB503}" type="presOf" srcId="{A4A14B6E-6A8D-4438-B9A6-52717CFEEE75}" destId="{2FD6628E-A900-46A1-B2BE-21E0EDB97FE6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BE1C70FD-5C18-47F8-AFFB-A1F0BF997B80}" srcId="{AB622569-3613-446D-BDE0-5F88E900EDD3}" destId="{E588C9B9-9D29-42D9-AD52-61726AAF93D4}" srcOrd="2" destOrd="0" parTransId="{EC52EF3C-F953-423B-A626-38A5C9F35358}" sibTransId="{2D572E80-67C1-48FD-831D-E4120ED97096}"/>
    <dgm:cxn modelId="{E272C242-C52F-4965-BF35-908E9139024F}" type="presParOf" srcId="{6C23E114-2F20-4287-87A5-B587D4F60FD4}" destId="{EE936CBB-C041-4046-8CCD-61C0CB40406B}" srcOrd="0" destOrd="0" presId="urn:microsoft.com/office/officeart/2008/layout/LinedList"/>
    <dgm:cxn modelId="{6331C8F5-0EC1-4F91-90D7-6EBC7353840B}" type="presParOf" srcId="{6C23E114-2F20-4287-87A5-B587D4F60FD4}" destId="{47FF32FD-8DCC-40CE-AD44-F57D7B1BC1CE}" srcOrd="1" destOrd="0" presId="urn:microsoft.com/office/officeart/2008/layout/LinedList"/>
    <dgm:cxn modelId="{04984699-6603-40CE-A700-F08454EA2FCA}" type="presParOf" srcId="{47FF32FD-8DCC-40CE-AD44-F57D7B1BC1CE}" destId="{6A7CB69A-A17F-4681-9CFB-26F63B9B14FB}" srcOrd="0" destOrd="0" presId="urn:microsoft.com/office/officeart/2008/layout/LinedList"/>
    <dgm:cxn modelId="{9265958C-B8D4-4FBF-B435-0AFB4EB28C87}" type="presParOf" srcId="{47FF32FD-8DCC-40CE-AD44-F57D7B1BC1CE}" destId="{12939C45-FB76-4EE3-ACA3-BBF89EBB8F6B}" srcOrd="1" destOrd="0" presId="urn:microsoft.com/office/officeart/2008/layout/LinedList"/>
    <dgm:cxn modelId="{0C638A3E-A0DF-4B45-897C-471AA885B78F}" type="presParOf" srcId="{6C23E114-2F20-4287-87A5-B587D4F60FD4}" destId="{2C8E1498-3A03-430C-9354-446791A4C3CC}" srcOrd="2" destOrd="0" presId="urn:microsoft.com/office/officeart/2008/layout/LinedList"/>
    <dgm:cxn modelId="{A8247967-6394-4873-B190-CCBF1F5E1EEB}" type="presParOf" srcId="{6C23E114-2F20-4287-87A5-B587D4F60FD4}" destId="{08497719-4ABA-4441-A577-229FCFE1DA91}" srcOrd="3" destOrd="0" presId="urn:microsoft.com/office/officeart/2008/layout/LinedList"/>
    <dgm:cxn modelId="{F3AC23A3-A75E-4D29-A6C1-CEE1102A18A0}" type="presParOf" srcId="{08497719-4ABA-4441-A577-229FCFE1DA91}" destId="{B06646DD-0A19-41BC-B3D3-FF38AD66A010}" srcOrd="0" destOrd="0" presId="urn:microsoft.com/office/officeart/2008/layout/LinedList"/>
    <dgm:cxn modelId="{90A77171-6EC8-44E9-8BF8-A7018C9E1B18}" type="presParOf" srcId="{08497719-4ABA-4441-A577-229FCFE1DA91}" destId="{5772393C-B345-4AF9-8D37-B093067B7C67}" srcOrd="1" destOrd="0" presId="urn:microsoft.com/office/officeart/2008/layout/LinedList"/>
    <dgm:cxn modelId="{994E4112-527D-41D0-A43E-04213FCB300B}" type="presParOf" srcId="{6C23E114-2F20-4287-87A5-B587D4F60FD4}" destId="{1739DA94-91E3-40CF-A691-F64F5173FF1C}" srcOrd="4" destOrd="0" presId="urn:microsoft.com/office/officeart/2008/layout/LinedList"/>
    <dgm:cxn modelId="{1569B34A-1A20-42F9-BB26-66A340D34EFE}" type="presParOf" srcId="{6C23E114-2F20-4287-87A5-B587D4F60FD4}" destId="{FACC861D-91D2-4CB9-A60A-3FA776BBD9DD}" srcOrd="5" destOrd="0" presId="urn:microsoft.com/office/officeart/2008/layout/LinedList"/>
    <dgm:cxn modelId="{63A2C68A-8E19-43A2-913C-6D1BF6524126}" type="presParOf" srcId="{FACC861D-91D2-4CB9-A60A-3FA776BBD9DD}" destId="{E46D29C0-68E1-4B06-BF5B-DEA310B09604}" srcOrd="0" destOrd="0" presId="urn:microsoft.com/office/officeart/2008/layout/LinedList"/>
    <dgm:cxn modelId="{9A0B0AB4-4CA4-44AC-A16D-008626310744}" type="presParOf" srcId="{FACC861D-91D2-4CB9-A60A-3FA776BBD9DD}" destId="{77D5E452-CD69-412C-9B2E-969E663071B8}" srcOrd="1" destOrd="0" presId="urn:microsoft.com/office/officeart/2008/layout/LinedList"/>
    <dgm:cxn modelId="{7333E028-2FD5-4314-B1C3-527DB48CEF32}" type="presParOf" srcId="{6C23E114-2F20-4287-87A5-B587D4F60FD4}" destId="{8D07A89A-BB99-4707-ACCD-7DBB6F3CF6B8}" srcOrd="6" destOrd="0" presId="urn:microsoft.com/office/officeart/2008/layout/LinedList"/>
    <dgm:cxn modelId="{DDA5A543-6DE5-436B-BBDF-A1AFED676304}" type="presParOf" srcId="{6C23E114-2F20-4287-87A5-B587D4F60FD4}" destId="{1C4C3C67-93C7-4DE5-8C44-BB3B9C0FFE78}" srcOrd="7" destOrd="0" presId="urn:microsoft.com/office/officeart/2008/layout/LinedList"/>
    <dgm:cxn modelId="{BC96AB35-53C7-4155-A5FA-042AE0E9F377}" type="presParOf" srcId="{1C4C3C67-93C7-4DE5-8C44-BB3B9C0FFE78}" destId="{2FD6628E-A900-46A1-B2BE-21E0EDB97FE6}" srcOrd="0" destOrd="0" presId="urn:microsoft.com/office/officeart/2008/layout/LinedList"/>
    <dgm:cxn modelId="{F7CF0878-1A8D-461D-9AF6-5DC95229A972}" type="presParOf" srcId="{1C4C3C67-93C7-4DE5-8C44-BB3B9C0FFE78}" destId="{1E9A2779-BDDD-41AF-8699-2F3DBAB25D9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B622569-3613-446D-BDE0-5F88E900EDD3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F4AED4F-F3AF-48AF-8921-B20ECAA6DE62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Reservations staff can focus extra confirmation messages or deposit requests on bookings that the model marks as medium or high risk</a:t>
          </a:r>
        </a:p>
      </dgm:t>
    </dgm:pt>
    <dgm:pt modelId="{944C5F80-F536-4384-B156-87650D564185}" type="par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70D30DF5-6BE5-4594-942C-CF4893597697}" type="sibTrans" cxnId="{87F17995-7B1A-43DF-B046-393996C661BC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E5FB914-E438-43DB-845A-EA57C2E5BCE8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Managers can monitor the overall distribution of predicted risk for upcoming dates and adjust pricing and marketing actions if many bookings look risky</a:t>
          </a:r>
        </a:p>
      </dgm:t>
    </dgm:pt>
    <dgm:pt modelId="{E0665969-0878-4609-8945-F929FEE286D7}" type="par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5E49DB6-1769-4C1C-953E-6E74BBFC6EEC}" type="sibTrans" cxnId="{061616C1-2744-4108-A04A-42F76CC19C0F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588C9B9-9D29-42D9-AD52-61726AAF93D4}">
      <dgm:prSet custT="1"/>
      <dgm:spPr/>
      <dgm:t>
        <a:bodyPr/>
        <a:lstStyle/>
        <a:p>
          <a:r>
            <a:rPr lang="en-US" sz="1500" dirty="0">
              <a:solidFill>
                <a:schemeClr val="tx2">
                  <a:lumMod val="60000"/>
                  <a:lumOff val="40000"/>
                </a:schemeClr>
              </a:solidFill>
            </a:rPr>
            <a:t>The model should be retrained on newer data at regular intervals, for example once per year or when booking patterns change, to keep performance stable and relevant</a:t>
          </a:r>
        </a:p>
      </dgm:t>
    </dgm:pt>
    <dgm:pt modelId="{EC52EF3C-F953-423B-A626-38A5C9F35358}" type="par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D572E80-67C1-48FD-831D-E4120ED97096}" type="sibTrans" cxnId="{BE1C70FD-5C18-47F8-AFFB-A1F0BF997B80}">
      <dgm:prSet/>
      <dgm:spPr/>
      <dgm:t>
        <a:bodyPr/>
        <a:lstStyle/>
        <a:p>
          <a:endParaRPr lang="en-US" sz="1500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01D7493-C205-4282-BA35-1EEA08606BCE}" type="pres">
      <dgm:prSet presAssocID="{AB622569-3613-446D-BDE0-5F88E900EDD3}" presName="vert0" presStyleCnt="0">
        <dgm:presLayoutVars>
          <dgm:dir/>
          <dgm:animOne val="branch"/>
          <dgm:animLvl val="lvl"/>
        </dgm:presLayoutVars>
      </dgm:prSet>
      <dgm:spPr/>
    </dgm:pt>
    <dgm:pt modelId="{D91A843A-3241-43EE-A20F-329A279DBE2C}" type="pres">
      <dgm:prSet presAssocID="{EF4AED4F-F3AF-48AF-8921-B20ECAA6DE62}" presName="thickLine" presStyleLbl="alignNode1" presStyleIdx="0" presStyleCnt="3"/>
      <dgm:spPr/>
    </dgm:pt>
    <dgm:pt modelId="{5EEA48D4-748F-4267-A219-145E7DA7D01D}" type="pres">
      <dgm:prSet presAssocID="{EF4AED4F-F3AF-48AF-8921-B20ECAA6DE62}" presName="horz1" presStyleCnt="0"/>
      <dgm:spPr/>
    </dgm:pt>
    <dgm:pt modelId="{E891E366-C7C2-4846-8283-FE80B00F9E9B}" type="pres">
      <dgm:prSet presAssocID="{EF4AED4F-F3AF-48AF-8921-B20ECAA6DE62}" presName="tx1" presStyleLbl="revTx" presStyleIdx="0" presStyleCnt="3"/>
      <dgm:spPr/>
    </dgm:pt>
    <dgm:pt modelId="{85B5CAEB-BE0C-4F63-A57E-5A268AA09ADA}" type="pres">
      <dgm:prSet presAssocID="{EF4AED4F-F3AF-48AF-8921-B20ECAA6DE62}" presName="vert1" presStyleCnt="0"/>
      <dgm:spPr/>
    </dgm:pt>
    <dgm:pt modelId="{0BD279BA-5102-4605-AD3C-29EF40FA3687}" type="pres">
      <dgm:prSet presAssocID="{4E5FB914-E438-43DB-845A-EA57C2E5BCE8}" presName="thickLine" presStyleLbl="alignNode1" presStyleIdx="1" presStyleCnt="3"/>
      <dgm:spPr/>
    </dgm:pt>
    <dgm:pt modelId="{1661F64B-776A-4AF4-B64C-EC735D8249A2}" type="pres">
      <dgm:prSet presAssocID="{4E5FB914-E438-43DB-845A-EA57C2E5BCE8}" presName="horz1" presStyleCnt="0"/>
      <dgm:spPr/>
    </dgm:pt>
    <dgm:pt modelId="{13CA50B1-C6EF-4756-AB0D-BD7BD7A27003}" type="pres">
      <dgm:prSet presAssocID="{4E5FB914-E438-43DB-845A-EA57C2E5BCE8}" presName="tx1" presStyleLbl="revTx" presStyleIdx="1" presStyleCnt="3"/>
      <dgm:spPr/>
    </dgm:pt>
    <dgm:pt modelId="{CE06B0F2-AACD-47E0-9776-D6F081053116}" type="pres">
      <dgm:prSet presAssocID="{4E5FB914-E438-43DB-845A-EA57C2E5BCE8}" presName="vert1" presStyleCnt="0"/>
      <dgm:spPr/>
    </dgm:pt>
    <dgm:pt modelId="{217EE034-3F4D-477B-9443-49162953688C}" type="pres">
      <dgm:prSet presAssocID="{E588C9B9-9D29-42D9-AD52-61726AAF93D4}" presName="thickLine" presStyleLbl="alignNode1" presStyleIdx="2" presStyleCnt="3"/>
      <dgm:spPr/>
    </dgm:pt>
    <dgm:pt modelId="{C0F6265D-3E62-42F1-8366-25AB6DE5D08E}" type="pres">
      <dgm:prSet presAssocID="{E588C9B9-9D29-42D9-AD52-61726AAF93D4}" presName="horz1" presStyleCnt="0"/>
      <dgm:spPr/>
    </dgm:pt>
    <dgm:pt modelId="{573E828D-AD6F-41C0-AD30-08EE887F4466}" type="pres">
      <dgm:prSet presAssocID="{E588C9B9-9D29-42D9-AD52-61726AAF93D4}" presName="tx1" presStyleLbl="revTx" presStyleIdx="2" presStyleCnt="3"/>
      <dgm:spPr/>
    </dgm:pt>
    <dgm:pt modelId="{79CDBA8B-88ED-42B4-BF38-8A4E1AF424F5}" type="pres">
      <dgm:prSet presAssocID="{E588C9B9-9D29-42D9-AD52-61726AAF93D4}" presName="vert1" presStyleCnt="0"/>
      <dgm:spPr/>
    </dgm:pt>
  </dgm:ptLst>
  <dgm:cxnLst>
    <dgm:cxn modelId="{A6C09D4A-FD7A-4746-90A2-B136C72C71FD}" type="presOf" srcId="{4E5FB914-E438-43DB-845A-EA57C2E5BCE8}" destId="{13CA50B1-C6EF-4756-AB0D-BD7BD7A27003}" srcOrd="0" destOrd="0" presId="urn:microsoft.com/office/officeart/2008/layout/LinedList"/>
    <dgm:cxn modelId="{FE568D72-0277-4995-A88D-A587AC4BF099}" type="presOf" srcId="{AB622569-3613-446D-BDE0-5F88E900EDD3}" destId="{801D7493-C205-4282-BA35-1EEA08606BCE}" srcOrd="0" destOrd="0" presId="urn:microsoft.com/office/officeart/2008/layout/LinedList"/>
    <dgm:cxn modelId="{87F17995-7B1A-43DF-B046-393996C661BC}" srcId="{AB622569-3613-446D-BDE0-5F88E900EDD3}" destId="{EF4AED4F-F3AF-48AF-8921-B20ECAA6DE62}" srcOrd="0" destOrd="0" parTransId="{944C5F80-F536-4384-B156-87650D564185}" sibTransId="{70D30DF5-6BE5-4594-942C-CF4893597697}"/>
    <dgm:cxn modelId="{0D9A629A-6F2C-4480-96EC-C03B3724CEE9}" type="presOf" srcId="{EF4AED4F-F3AF-48AF-8921-B20ECAA6DE62}" destId="{E891E366-C7C2-4846-8283-FE80B00F9E9B}" srcOrd="0" destOrd="0" presId="urn:microsoft.com/office/officeart/2008/layout/LinedList"/>
    <dgm:cxn modelId="{061616C1-2744-4108-A04A-42F76CC19C0F}" srcId="{AB622569-3613-446D-BDE0-5F88E900EDD3}" destId="{4E5FB914-E438-43DB-845A-EA57C2E5BCE8}" srcOrd="1" destOrd="0" parTransId="{E0665969-0878-4609-8945-F929FEE286D7}" sibTransId="{65E49DB6-1769-4C1C-953E-6E74BBFC6EEC}"/>
    <dgm:cxn modelId="{3E03E3D2-E405-43C6-8705-1E4BE7D330A1}" type="presOf" srcId="{E588C9B9-9D29-42D9-AD52-61726AAF93D4}" destId="{573E828D-AD6F-41C0-AD30-08EE887F4466}" srcOrd="0" destOrd="0" presId="urn:microsoft.com/office/officeart/2008/layout/LinedList"/>
    <dgm:cxn modelId="{BE1C70FD-5C18-47F8-AFFB-A1F0BF997B80}" srcId="{AB622569-3613-446D-BDE0-5F88E900EDD3}" destId="{E588C9B9-9D29-42D9-AD52-61726AAF93D4}" srcOrd="2" destOrd="0" parTransId="{EC52EF3C-F953-423B-A626-38A5C9F35358}" sibTransId="{2D572E80-67C1-48FD-831D-E4120ED97096}"/>
    <dgm:cxn modelId="{1D64DC88-20E2-4B8B-8546-61F7B9533A68}" type="presParOf" srcId="{801D7493-C205-4282-BA35-1EEA08606BCE}" destId="{D91A843A-3241-43EE-A20F-329A279DBE2C}" srcOrd="0" destOrd="0" presId="urn:microsoft.com/office/officeart/2008/layout/LinedList"/>
    <dgm:cxn modelId="{A6809788-63B7-4A3A-A889-02CCD7A095C3}" type="presParOf" srcId="{801D7493-C205-4282-BA35-1EEA08606BCE}" destId="{5EEA48D4-748F-4267-A219-145E7DA7D01D}" srcOrd="1" destOrd="0" presId="urn:microsoft.com/office/officeart/2008/layout/LinedList"/>
    <dgm:cxn modelId="{FBB5989B-C9D0-46F0-8AC7-A9F5C1D7870B}" type="presParOf" srcId="{5EEA48D4-748F-4267-A219-145E7DA7D01D}" destId="{E891E366-C7C2-4846-8283-FE80B00F9E9B}" srcOrd="0" destOrd="0" presId="urn:microsoft.com/office/officeart/2008/layout/LinedList"/>
    <dgm:cxn modelId="{7CD4ADB6-7480-40D4-8C3D-9E6B87D9DDF3}" type="presParOf" srcId="{5EEA48D4-748F-4267-A219-145E7DA7D01D}" destId="{85B5CAEB-BE0C-4F63-A57E-5A268AA09ADA}" srcOrd="1" destOrd="0" presId="urn:microsoft.com/office/officeart/2008/layout/LinedList"/>
    <dgm:cxn modelId="{4CD2F6F8-7264-4710-9168-6B2FA410C2FC}" type="presParOf" srcId="{801D7493-C205-4282-BA35-1EEA08606BCE}" destId="{0BD279BA-5102-4605-AD3C-29EF40FA3687}" srcOrd="2" destOrd="0" presId="urn:microsoft.com/office/officeart/2008/layout/LinedList"/>
    <dgm:cxn modelId="{B6AB0994-2E97-4179-A98A-C0A05FC7F4C1}" type="presParOf" srcId="{801D7493-C205-4282-BA35-1EEA08606BCE}" destId="{1661F64B-776A-4AF4-B64C-EC735D8249A2}" srcOrd="3" destOrd="0" presId="urn:microsoft.com/office/officeart/2008/layout/LinedList"/>
    <dgm:cxn modelId="{0706F638-7E3D-42AB-B2B5-C06272575AF7}" type="presParOf" srcId="{1661F64B-776A-4AF4-B64C-EC735D8249A2}" destId="{13CA50B1-C6EF-4756-AB0D-BD7BD7A27003}" srcOrd="0" destOrd="0" presId="urn:microsoft.com/office/officeart/2008/layout/LinedList"/>
    <dgm:cxn modelId="{111F7CA5-29BF-4AAF-A204-E96EF92AC5C5}" type="presParOf" srcId="{1661F64B-776A-4AF4-B64C-EC735D8249A2}" destId="{CE06B0F2-AACD-47E0-9776-D6F081053116}" srcOrd="1" destOrd="0" presId="urn:microsoft.com/office/officeart/2008/layout/LinedList"/>
    <dgm:cxn modelId="{A5443816-1534-4280-9BA0-C9529678B84C}" type="presParOf" srcId="{801D7493-C205-4282-BA35-1EEA08606BCE}" destId="{217EE034-3F4D-477B-9443-49162953688C}" srcOrd="4" destOrd="0" presId="urn:microsoft.com/office/officeart/2008/layout/LinedList"/>
    <dgm:cxn modelId="{377613B1-2BEE-41D6-ADB3-0E403C8C4A2D}" type="presParOf" srcId="{801D7493-C205-4282-BA35-1EEA08606BCE}" destId="{C0F6265D-3E62-42F1-8366-25AB6DE5D08E}" srcOrd="5" destOrd="0" presId="urn:microsoft.com/office/officeart/2008/layout/LinedList"/>
    <dgm:cxn modelId="{BCB3EE2C-3CCB-4CEB-9E50-0443DE1365FC}" type="presParOf" srcId="{C0F6265D-3E62-42F1-8366-25AB6DE5D08E}" destId="{573E828D-AD6F-41C0-AD30-08EE887F4466}" srcOrd="0" destOrd="0" presId="urn:microsoft.com/office/officeart/2008/layout/LinedList"/>
    <dgm:cxn modelId="{E9175632-7A81-491F-880E-11C65882D606}" type="presParOf" srcId="{C0F6265D-3E62-42F1-8366-25AB6DE5D08E}" destId="{79CDBA8B-88ED-42B4-BF38-8A4E1AF424F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97AB66-7879-41CC-8EA4-DF64E4ECEFB9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262828-FEEC-4C5D-98EB-D8D07442F3F4}">
      <dsp:nvSpPr>
        <dsp:cNvPr id="0" name=""/>
        <dsp:cNvSpPr/>
      </dsp:nvSpPr>
      <dsp:spPr>
        <a:xfrm>
          <a:off x="0" y="0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Why hotel cancellations are a serious problem?</a:t>
          </a:r>
          <a:b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  <a:t>Cancellations create empty rooms and direct revenue loss</a:t>
          </a:r>
          <a:b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  <a:t>Last minute cancellations are the most damaging because the room is hard to resell</a:t>
          </a:r>
          <a:b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-</a:t>
          </a:r>
          <a: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  <a:t> Over booking can protect revenue but can also hurt guest experience if too aggressive</a:t>
          </a:r>
          <a:b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sz="18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-</a:t>
          </a:r>
          <a:r>
            <a:rPr lang="en-US" sz="1800" kern="1200" dirty="0">
              <a:solidFill>
                <a:schemeClr val="tx2">
                  <a:lumMod val="60000"/>
                  <a:lumOff val="40000"/>
                </a:schemeClr>
              </a:solidFill>
            </a:rPr>
            <a:t> A smart prediction model can help the hotel strike a better balance between revenue and service quality</a:t>
          </a:r>
        </a:p>
      </dsp:txBody>
      <dsp:txXfrm>
        <a:off x="0" y="0"/>
        <a:ext cx="5400858" cy="2852507"/>
      </dsp:txXfrm>
    </dsp:sp>
    <dsp:sp modelId="{140C8A4B-909F-49EC-A1AB-1ED0262BAA76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DF98E-46B2-40E9-886A-1B27BF41EE88}">
      <dsp:nvSpPr>
        <dsp:cNvPr id="0" name=""/>
        <dsp:cNvSpPr/>
      </dsp:nvSpPr>
      <dsp:spPr>
        <a:xfrm>
          <a:off x="0" y="2852507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>
              <a:solidFill>
                <a:schemeClr val="tx2">
                  <a:lumMod val="60000"/>
                  <a:lumOff val="40000"/>
                </a:schemeClr>
              </a:solidFill>
            </a:rPr>
            <a:t>Our Question</a:t>
          </a:r>
          <a:br>
            <a:rPr lang="en-US" sz="1800" b="1" kern="1200">
              <a:solidFill>
                <a:schemeClr val="tx2">
                  <a:lumMod val="60000"/>
                  <a:lumOff val="40000"/>
                </a:schemeClr>
              </a:solidFill>
            </a:rPr>
          </a:br>
          <a:r>
            <a:rPr lang="en-US" sz="1800" b="1" kern="120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sz="1800" kern="1200">
              <a:solidFill>
                <a:schemeClr val="tx2">
                  <a:lumMod val="60000"/>
                  <a:lumOff val="40000"/>
                </a:schemeClr>
              </a:solidFill>
            </a:rPr>
            <a:t>Can we predict at booking time whether a reservation is likely to cancel</a:t>
          </a:r>
        </a:p>
      </dsp:txBody>
      <dsp:txXfrm>
        <a:off x="0" y="2852507"/>
        <a:ext cx="5400858" cy="28525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D9D425-7D0C-467E-BB0A-0810241B30E1}">
      <dsp:nvSpPr>
        <dsp:cNvPr id="0" name=""/>
        <dsp:cNvSpPr/>
      </dsp:nvSpPr>
      <dsp:spPr>
        <a:xfrm>
          <a:off x="0" y="696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CDA56D-5C6F-47D0-BE0A-39C273E5669A}">
      <dsp:nvSpPr>
        <dsp:cNvPr id="0" name=""/>
        <dsp:cNvSpPr/>
      </dsp:nvSpPr>
      <dsp:spPr>
        <a:xfrm>
          <a:off x="0" y="696"/>
          <a:ext cx="5400858" cy="1140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Data Source - </a:t>
          </a:r>
          <a:r>
            <a:rPr lang="en-US" sz="17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Hotel Booking Demand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 data set from 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Kaggle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 created by </a:t>
          </a:r>
          <a:r>
            <a:rPr lang="en-US" sz="17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Jesse </a:t>
          </a:r>
          <a:r>
            <a:rPr lang="en-US" sz="1700" i="1" kern="1200" dirty="0" err="1">
              <a:solidFill>
                <a:schemeClr val="tx2">
                  <a:lumMod val="60000"/>
                  <a:lumOff val="40000"/>
                </a:schemeClr>
              </a:solidFill>
            </a:rPr>
            <a:t>Mostipak</a:t>
          </a:r>
          <a:endParaRPr lang="en-US" sz="1700" kern="1200" dirty="0">
            <a:solidFill>
              <a:schemeClr val="tx2">
                <a:lumMod val="60000"/>
                <a:lumOff val="40000"/>
              </a:schemeClr>
            </a:solidFill>
          </a:endParaRPr>
        </a:p>
      </dsp:txBody>
      <dsp:txXfrm>
        <a:off x="0" y="696"/>
        <a:ext cx="5400858" cy="1140724"/>
      </dsp:txXfrm>
    </dsp:sp>
    <dsp:sp modelId="{F82FF8E0-9CA2-45A8-9D18-12F34CF86DDA}">
      <dsp:nvSpPr>
        <dsp:cNvPr id="0" name=""/>
        <dsp:cNvSpPr/>
      </dsp:nvSpPr>
      <dsp:spPr>
        <a:xfrm>
          <a:off x="0" y="1141420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BD4ACF-825E-4D79-9804-D299A3309795}">
      <dsp:nvSpPr>
        <dsp:cNvPr id="0" name=""/>
        <dsp:cNvSpPr/>
      </dsp:nvSpPr>
      <dsp:spPr>
        <a:xfrm>
          <a:off x="0" y="1141420"/>
          <a:ext cx="5400858" cy="1140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Scope – 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119,390 Reservations combining from a city hotel and a resort hotel</a:t>
          </a:r>
        </a:p>
      </dsp:txBody>
      <dsp:txXfrm>
        <a:off x="0" y="1141420"/>
        <a:ext cx="5400858" cy="1140724"/>
      </dsp:txXfrm>
    </dsp:sp>
    <dsp:sp modelId="{8AA3EAD2-FDB3-4552-974C-248D810D5D07}">
      <dsp:nvSpPr>
        <dsp:cNvPr id="0" name=""/>
        <dsp:cNvSpPr/>
      </dsp:nvSpPr>
      <dsp:spPr>
        <a:xfrm>
          <a:off x="0" y="2282145"/>
          <a:ext cx="540085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FCFAF7-45AB-410E-978E-F767F4055CEE}">
      <dsp:nvSpPr>
        <dsp:cNvPr id="0" name=""/>
        <dsp:cNvSpPr/>
      </dsp:nvSpPr>
      <dsp:spPr>
        <a:xfrm>
          <a:off x="0" y="2282145"/>
          <a:ext cx="5400858" cy="1140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Structure – 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32 Variable describing arrival dates, length of stay, number of adults, children and babies, meal plan, country, market segment, distribution channel, customer type, price and booking history</a:t>
          </a:r>
        </a:p>
      </dsp:txBody>
      <dsp:txXfrm>
        <a:off x="0" y="2282145"/>
        <a:ext cx="5400858" cy="1140724"/>
      </dsp:txXfrm>
    </dsp:sp>
    <dsp:sp modelId="{E8C1D4E9-6AEF-4707-8981-657D5A62A930}">
      <dsp:nvSpPr>
        <dsp:cNvPr id="0" name=""/>
        <dsp:cNvSpPr/>
      </dsp:nvSpPr>
      <dsp:spPr>
        <a:xfrm>
          <a:off x="0" y="3422869"/>
          <a:ext cx="540085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419382-D5A3-4BB7-A54B-2B857BC36F23}">
      <dsp:nvSpPr>
        <dsp:cNvPr id="0" name=""/>
        <dsp:cNvSpPr/>
      </dsp:nvSpPr>
      <dsp:spPr>
        <a:xfrm>
          <a:off x="0" y="3422869"/>
          <a:ext cx="5400858" cy="1140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Target Variable - </a:t>
          </a:r>
          <a:r>
            <a:rPr lang="en-US" sz="1700" kern="1200" dirty="0" err="1">
              <a:solidFill>
                <a:schemeClr val="tx2">
                  <a:lumMod val="60000"/>
                  <a:lumOff val="40000"/>
                </a:schemeClr>
              </a:solidFill>
            </a:rPr>
            <a:t>is_canceled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 = 0 is Reservation not cancelled, </a:t>
          </a:r>
          <a:r>
            <a:rPr lang="en-US" sz="1700" kern="1200" dirty="0" err="1">
              <a:solidFill>
                <a:schemeClr val="tx2">
                  <a:lumMod val="60000"/>
                  <a:lumOff val="40000"/>
                </a:schemeClr>
              </a:solidFill>
            </a:rPr>
            <a:t>is_canceled</a:t>
          </a:r>
          <a:r>
            <a:rPr lang="en-US" sz="1700" kern="1200" dirty="0">
              <a:solidFill>
                <a:schemeClr val="tx2">
                  <a:lumMod val="60000"/>
                  <a:lumOff val="40000"/>
                </a:schemeClr>
              </a:solidFill>
            </a:rPr>
            <a:t> = 1 is Reservation being cancelled</a:t>
          </a:r>
        </a:p>
      </dsp:txBody>
      <dsp:txXfrm>
        <a:off x="0" y="3422869"/>
        <a:ext cx="5400858" cy="1140724"/>
      </dsp:txXfrm>
    </dsp:sp>
    <dsp:sp modelId="{A3F95DD4-F901-4AB5-9540-118B55F4CB7B}">
      <dsp:nvSpPr>
        <dsp:cNvPr id="0" name=""/>
        <dsp:cNvSpPr/>
      </dsp:nvSpPr>
      <dsp:spPr>
        <a:xfrm>
          <a:off x="0" y="4563594"/>
          <a:ext cx="5400858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599320-8280-4FA6-99F1-AC54F07F4C18}">
      <dsp:nvSpPr>
        <dsp:cNvPr id="0" name=""/>
        <dsp:cNvSpPr/>
      </dsp:nvSpPr>
      <dsp:spPr>
        <a:xfrm>
          <a:off x="0" y="4563594"/>
          <a:ext cx="5400858" cy="1140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>
              <a:solidFill>
                <a:schemeClr val="tx2">
                  <a:lumMod val="60000"/>
                  <a:lumOff val="40000"/>
                </a:schemeClr>
              </a:solidFill>
            </a:rPr>
            <a:t>Class balance - </a:t>
          </a:r>
          <a:r>
            <a:rPr lang="en-US" sz="1700" kern="1200">
              <a:solidFill>
                <a:schemeClr val="tx2">
                  <a:lumMod val="60000"/>
                  <a:lumOff val="40000"/>
                </a:schemeClr>
              </a:solidFill>
            </a:rPr>
            <a:t>Roughly about one third of all bookings in the data set are cancelled and about two thirds are not cancelled, so the prediction problem has a moderately imbalanced target</a:t>
          </a:r>
        </a:p>
      </dsp:txBody>
      <dsp:txXfrm>
        <a:off x="0" y="4563594"/>
        <a:ext cx="5400858" cy="114072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8007A2-03BF-4A15-BB38-E04DBFDDCBD6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CBE07F-2954-4017-A6F5-09CFEED2E6AD}">
      <dsp:nvSpPr>
        <dsp:cNvPr id="0" name=""/>
        <dsp:cNvSpPr/>
      </dsp:nvSpPr>
      <dsp:spPr>
        <a:xfrm>
          <a:off x="0" y="0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Removed records with missing target values and any clearly inconsistent bookings after basic checks</a:t>
          </a:r>
        </a:p>
      </dsp:txBody>
      <dsp:txXfrm>
        <a:off x="0" y="0"/>
        <a:ext cx="5400858" cy="1426253"/>
      </dsp:txXfrm>
    </dsp:sp>
    <dsp:sp modelId="{C54EE4D3-6F82-46CC-BAEF-2127084FCD7E}">
      <dsp:nvSpPr>
        <dsp:cNvPr id="0" name=""/>
        <dsp:cNvSpPr/>
      </dsp:nvSpPr>
      <dsp:spPr>
        <a:xfrm>
          <a:off x="0" y="1426253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E320C-671C-4D3B-9511-7608F8BEBF48}">
      <dsp:nvSpPr>
        <dsp:cNvPr id="0" name=""/>
        <dsp:cNvSpPr/>
      </dsp:nvSpPr>
      <dsp:spPr>
        <a:xfrm>
          <a:off x="0" y="1426253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Dropped variables that are not available at booking time, for example reservation status and reservation status date, to avoid information leakage into the model</a:t>
          </a:r>
        </a:p>
      </dsp:txBody>
      <dsp:txXfrm>
        <a:off x="0" y="1426253"/>
        <a:ext cx="5400858" cy="1426253"/>
      </dsp:txXfrm>
    </dsp:sp>
    <dsp:sp modelId="{94AF2A37-6C4A-476B-9582-068EF6B9CA76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186974-320A-49AD-ABF4-957281034717}">
      <dsp:nvSpPr>
        <dsp:cNvPr id="0" name=""/>
        <dsp:cNvSpPr/>
      </dsp:nvSpPr>
      <dsp:spPr>
        <a:xfrm>
          <a:off x="0" y="2852507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solidFill>
                <a:schemeClr val="tx2">
                  <a:lumMod val="60000"/>
                  <a:lumOff val="40000"/>
                </a:schemeClr>
              </a:solidFill>
            </a:rPr>
            <a:t>Handled missing values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solidFill>
                <a:schemeClr val="tx2">
                  <a:lumMod val="60000"/>
                  <a:lumOff val="40000"/>
                </a:schemeClr>
              </a:solidFill>
            </a:rPr>
            <a:t> - For numeric fields such as children we replaced missing entries with zero after checking the distributions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solidFill>
                <a:schemeClr val="tx2">
                  <a:lumMod val="60000"/>
                  <a:lumOff val="40000"/>
                </a:schemeClr>
              </a:solidFill>
            </a:rPr>
            <a:t> - For categorical fields such as country, agent and company we created a separate category named Unknown</a:t>
          </a:r>
        </a:p>
      </dsp:txBody>
      <dsp:txXfrm>
        <a:off x="0" y="2852507"/>
        <a:ext cx="5400858" cy="1426253"/>
      </dsp:txXfrm>
    </dsp:sp>
    <dsp:sp modelId="{B9FD9A7D-4C8A-47E7-8724-AE46A7A41DE1}">
      <dsp:nvSpPr>
        <dsp:cNvPr id="0" name=""/>
        <dsp:cNvSpPr/>
      </dsp:nvSpPr>
      <dsp:spPr>
        <a:xfrm>
          <a:off x="0" y="4278761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EF9ACA-6E4C-4156-8FAF-3DB8026479A8}">
      <dsp:nvSpPr>
        <dsp:cNvPr id="0" name=""/>
        <dsp:cNvSpPr/>
      </dsp:nvSpPr>
      <dsp:spPr>
        <a:xfrm>
          <a:off x="0" y="4278761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solidFill>
                <a:schemeClr val="tx2">
                  <a:lumMod val="60000"/>
                  <a:lumOff val="40000"/>
                </a:schemeClr>
              </a:solidFill>
            </a:rPr>
            <a:t>Separated features into numeric and categorical groups so that each could be processed appropriately</a:t>
          </a:r>
        </a:p>
      </dsp:txBody>
      <dsp:txXfrm>
        <a:off x="0" y="4278761"/>
        <a:ext cx="5400858" cy="142625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757657-2497-4B21-A54A-5957F8DC2D3D}">
      <dsp:nvSpPr>
        <dsp:cNvPr id="0" name=""/>
        <dsp:cNvSpPr/>
      </dsp:nvSpPr>
      <dsp:spPr>
        <a:xfrm>
          <a:off x="0" y="2785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A48515-740B-4A9C-A182-5EA54180501B}">
      <dsp:nvSpPr>
        <dsp:cNvPr id="0" name=""/>
        <dsp:cNvSpPr/>
      </dsp:nvSpPr>
      <dsp:spPr>
        <a:xfrm>
          <a:off x="0" y="2785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Used a column transformer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Numeric features were scaled using a standard scaler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Categorical features were converted into dummy variables using one hot encoding</a:t>
          </a:r>
        </a:p>
      </dsp:txBody>
      <dsp:txXfrm>
        <a:off x="0" y="2785"/>
        <a:ext cx="5400858" cy="1899814"/>
      </dsp:txXfrm>
    </dsp:sp>
    <dsp:sp modelId="{1429B404-570D-420E-ADC9-FC2BA4C69B6D}">
      <dsp:nvSpPr>
        <dsp:cNvPr id="0" name=""/>
        <dsp:cNvSpPr/>
      </dsp:nvSpPr>
      <dsp:spPr>
        <a:xfrm>
          <a:off x="0" y="1902600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ED6795-F372-44BE-AA2F-ED66AD4E2AF1}">
      <dsp:nvSpPr>
        <dsp:cNvPr id="0" name=""/>
        <dsp:cNvSpPr/>
      </dsp:nvSpPr>
      <dsp:spPr>
        <a:xfrm>
          <a:off x="0" y="1902600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Performed a train test split so that model training happens only on the training set and the test set is kept aside for final evaluation</a:t>
          </a:r>
        </a:p>
      </dsp:txBody>
      <dsp:txXfrm>
        <a:off x="0" y="1902600"/>
        <a:ext cx="5400858" cy="1899814"/>
      </dsp:txXfrm>
    </dsp:sp>
    <dsp:sp modelId="{7156FF45-594C-449A-8B5D-1F3A2F813AB5}">
      <dsp:nvSpPr>
        <dsp:cNvPr id="0" name=""/>
        <dsp:cNvSpPr/>
      </dsp:nvSpPr>
      <dsp:spPr>
        <a:xfrm>
          <a:off x="0" y="3802414"/>
          <a:ext cx="540085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3364C-FB0F-46A3-8D9F-C7CE937010E0}">
      <dsp:nvSpPr>
        <dsp:cNvPr id="0" name=""/>
        <dsp:cNvSpPr/>
      </dsp:nvSpPr>
      <dsp:spPr>
        <a:xfrm>
          <a:off x="0" y="3802414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Applied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SMOTE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only on the training set to balance the classes by creating synthetic examples for the cancelled bookings while leaving the original test set unchanged</a:t>
          </a:r>
        </a:p>
      </dsp:txBody>
      <dsp:txXfrm>
        <a:off x="0" y="3802414"/>
        <a:ext cx="5400858" cy="189981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700F2E-A06A-4E23-8252-FAD2CAF6B417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85006B-A548-4344-8AAA-B67F54F18076}">
      <dsp:nvSpPr>
        <dsp:cNvPr id="0" name=""/>
        <dsp:cNvSpPr/>
      </dsp:nvSpPr>
      <dsp:spPr>
        <a:xfrm>
          <a:off x="0" y="0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Goal of modelling stage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Learn a function that takes booking features as input and outputs the probability that the booking will be cancelled</a:t>
          </a:r>
        </a:p>
      </dsp:txBody>
      <dsp:txXfrm>
        <a:off x="0" y="0"/>
        <a:ext cx="5400858" cy="2852507"/>
      </dsp:txXfrm>
    </dsp:sp>
    <dsp:sp modelId="{56E15E31-E2D8-4263-A228-2F6B516A58AB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31172B-067F-467F-AF12-AE6E6E14DAEE}">
      <dsp:nvSpPr>
        <dsp:cNvPr id="0" name=""/>
        <dsp:cNvSpPr/>
      </dsp:nvSpPr>
      <dsp:spPr>
        <a:xfrm>
          <a:off x="0" y="2852507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We trained several supervised classification models on the prepared data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Logistic regression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as a simple linear baseline model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Single decision tree models using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C A R T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and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C 4.5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style splitting rules for transparent if then decision paths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K nearest </a:t>
          </a:r>
          <a:r>
            <a:rPr lang="en-US" sz="1500" i="1" kern="1200" dirty="0" err="1">
              <a:solidFill>
                <a:schemeClr val="tx2">
                  <a:lumMod val="60000"/>
                  <a:lumOff val="40000"/>
                </a:schemeClr>
              </a:solidFill>
            </a:rPr>
            <a:t>neighbour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classifier as a distance-based method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Random Forest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classifier which combines many decision trees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Multilayer perceptron neural network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as a nonlinear parametric model</a:t>
          </a:r>
        </a:p>
      </dsp:txBody>
      <dsp:txXfrm>
        <a:off x="0" y="2852507"/>
        <a:ext cx="5400858" cy="285250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D2849C-335C-45D6-8B37-46DD66AAF302}">
      <dsp:nvSpPr>
        <dsp:cNvPr id="0" name=""/>
        <dsp:cNvSpPr/>
      </dsp:nvSpPr>
      <dsp:spPr>
        <a:xfrm>
          <a:off x="0" y="2785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EF4A84-878B-40B7-B909-51F3D546CC71}">
      <dsp:nvSpPr>
        <dsp:cNvPr id="0" name=""/>
        <dsp:cNvSpPr/>
      </dsp:nvSpPr>
      <dsp:spPr>
        <a:xfrm>
          <a:off x="0" y="2785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All models used the same processed training data with numeric features scaled and categorical features one hot encoded</a:t>
          </a:r>
        </a:p>
      </dsp:txBody>
      <dsp:txXfrm>
        <a:off x="0" y="2785"/>
        <a:ext cx="5400858" cy="1899814"/>
      </dsp:txXfrm>
    </dsp:sp>
    <dsp:sp modelId="{F59463EF-DE14-4202-AEEF-E690AD0E8376}">
      <dsp:nvSpPr>
        <dsp:cNvPr id="0" name=""/>
        <dsp:cNvSpPr/>
      </dsp:nvSpPr>
      <dsp:spPr>
        <a:xfrm>
          <a:off x="0" y="1902600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4DC940-FAA0-4C26-ABE1-F52C3701623F}">
      <dsp:nvSpPr>
        <dsp:cNvPr id="0" name=""/>
        <dsp:cNvSpPr/>
      </dsp:nvSpPr>
      <dsp:spPr>
        <a:xfrm>
          <a:off x="0" y="1902600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For each model we tuned key hyper parameters using cross validation on the training set with ROC AUC as the main selection metric</a:t>
          </a:r>
        </a:p>
      </dsp:txBody>
      <dsp:txXfrm>
        <a:off x="0" y="1902600"/>
        <a:ext cx="5400858" cy="1899814"/>
      </dsp:txXfrm>
    </dsp:sp>
    <dsp:sp modelId="{F8E4C592-3F75-4EFD-97FE-CF2CEC403D24}">
      <dsp:nvSpPr>
        <dsp:cNvPr id="0" name=""/>
        <dsp:cNvSpPr/>
      </dsp:nvSpPr>
      <dsp:spPr>
        <a:xfrm>
          <a:off x="0" y="3802414"/>
          <a:ext cx="540085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BC600A-8244-4DDE-A1ED-1657D0637B98}">
      <dsp:nvSpPr>
        <dsp:cNvPr id="0" name=""/>
        <dsp:cNvSpPr/>
      </dsp:nvSpPr>
      <dsp:spPr>
        <a:xfrm>
          <a:off x="0" y="3802414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After tuning, </a:t>
          </a:r>
          <a:r>
            <a:rPr lang="en-US" sz="15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Random Forest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consistently achieved the best overall combination of accuracy, ROC AUC and recall for cancellations and was selected as the primary model for detailed evaluation and interpretation</a:t>
          </a:r>
        </a:p>
      </dsp:txBody>
      <dsp:txXfrm>
        <a:off x="0" y="3802414"/>
        <a:ext cx="5400858" cy="189981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502B89-2D2F-4B72-8918-ED9CC53D2CBF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3D0FED-B5BC-4FC8-A9AB-2731872BD01C}">
      <dsp:nvSpPr>
        <dsp:cNvPr id="0" name=""/>
        <dsp:cNvSpPr/>
      </dsp:nvSpPr>
      <dsp:spPr>
        <a:xfrm>
          <a:off x="0" y="0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We evaluated all models on a held-out test set that was never used during training</a:t>
          </a:r>
        </a:p>
      </dsp:txBody>
      <dsp:txXfrm>
        <a:off x="0" y="0"/>
        <a:ext cx="5400858" cy="2852507"/>
      </dsp:txXfrm>
    </dsp:sp>
    <dsp:sp modelId="{DDF84F56-05E4-419F-AE80-65B75BE64B84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2DAC9E-71AC-4310-A1EC-14CBE1347ABF}">
      <dsp:nvSpPr>
        <dsp:cNvPr id="0" name=""/>
        <dsp:cNvSpPr/>
      </dsp:nvSpPr>
      <dsp:spPr>
        <a:xfrm>
          <a:off x="0" y="2852507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Main metrics used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Accuracy to measure overall proportion of correctly classified bookings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ROC AUC to measure how well the model separates cancelled from not cancelled bookings across all possible thresholds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Precision, recall and F one score for each class to understand the trade off between missed cancellations and false alarms</a:t>
          </a:r>
        </a:p>
      </dsp:txBody>
      <dsp:txXfrm>
        <a:off x="0" y="2852507"/>
        <a:ext cx="5400858" cy="285250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C3B881-E799-4C48-A797-9ADE30DBDB6B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D04CA7-CA30-44AF-BD14-216102F82C96}">
      <dsp:nvSpPr>
        <dsp:cNvPr id="0" name=""/>
        <dsp:cNvSpPr/>
      </dsp:nvSpPr>
      <dsp:spPr>
        <a:xfrm>
          <a:off x="0" y="0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Business focus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We care especially about recall for the cancellation class because missed cancellations lead to empty rooms and revenue loss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We also monitor the number of false alarms because too many high-risk flags would confuse operations</a:t>
          </a:r>
        </a:p>
      </dsp:txBody>
      <dsp:txXfrm>
        <a:off x="0" y="0"/>
        <a:ext cx="5400858" cy="2852507"/>
      </dsp:txXfrm>
    </dsp:sp>
    <dsp:sp modelId="{3751FD71-6A8F-4FBD-A033-C00B0B1A5606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2">
            <a:hueOff val="2084203"/>
            <a:satOff val="6355"/>
            <a:lumOff val="-4511"/>
            <a:alphaOff val="0"/>
          </a:schemeClr>
        </a:solidFill>
        <a:ln w="12700" cap="flat" cmpd="sng" algn="ctr">
          <a:solidFill>
            <a:schemeClr val="accent2">
              <a:hueOff val="2084203"/>
              <a:satOff val="6355"/>
              <a:lumOff val="-451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F90DBE-3EF5-45FE-8B2D-5184E126DFDA}">
      <dsp:nvSpPr>
        <dsp:cNvPr id="0" name=""/>
        <dsp:cNvSpPr/>
      </dsp:nvSpPr>
      <dsp:spPr>
        <a:xfrm>
          <a:off x="0" y="2852507"/>
          <a:ext cx="5400858" cy="28525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solidFill>
                <a:schemeClr val="tx2">
                  <a:lumMod val="60000"/>
                  <a:lumOff val="40000"/>
                </a:schemeClr>
              </a:solidFill>
            </a:rPr>
            <a:t>Summary of results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Logistic regression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and single decision trees provide reasonable baselines but lower ROC AUC and lower recall for cancellations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K nearest </a:t>
          </a:r>
          <a:r>
            <a:rPr lang="en-US" sz="1500" i="1" kern="1200" dirty="0" err="1">
              <a:solidFill>
                <a:schemeClr val="tx2">
                  <a:lumMod val="60000"/>
                  <a:lumOff val="40000"/>
                </a:schemeClr>
              </a:solidFill>
            </a:rPr>
            <a:t>neighbour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and the neural network clearly improve performance over the baselines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 - </a:t>
          </a:r>
          <a:r>
            <a:rPr lang="en-US" sz="1500" i="1" kern="1200" dirty="0">
              <a:solidFill>
                <a:schemeClr val="tx2">
                  <a:lumMod val="60000"/>
                  <a:lumOff val="40000"/>
                </a:schemeClr>
              </a:solidFill>
            </a:rPr>
            <a:t>Random Forest </a:t>
          </a: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achieves the strongest overall performance, with test accuracy around the mid eighties and ROC AUC around zero point nine four and recall for cancellations in the low eighties</a:t>
          </a:r>
        </a:p>
      </dsp:txBody>
      <dsp:txXfrm>
        <a:off x="0" y="2852507"/>
        <a:ext cx="5400858" cy="285250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936CBB-C041-4046-8CCD-61C0CB40406B}">
      <dsp:nvSpPr>
        <dsp:cNvPr id="0" name=""/>
        <dsp:cNvSpPr/>
      </dsp:nvSpPr>
      <dsp:spPr>
        <a:xfrm>
          <a:off x="0" y="0"/>
          <a:ext cx="54008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7CB69A-A17F-4681-9CFB-26F63B9B14FB}">
      <dsp:nvSpPr>
        <dsp:cNvPr id="0" name=""/>
        <dsp:cNvSpPr/>
      </dsp:nvSpPr>
      <dsp:spPr>
        <a:xfrm>
          <a:off x="0" y="0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The final Random Forest model can be wrapped inside a simple service or script that connects to the hotel booking system</a:t>
          </a:r>
        </a:p>
      </dsp:txBody>
      <dsp:txXfrm>
        <a:off x="0" y="0"/>
        <a:ext cx="5400858" cy="1426253"/>
      </dsp:txXfrm>
    </dsp:sp>
    <dsp:sp modelId="{2C8E1498-3A03-430C-9354-446791A4C3CC}">
      <dsp:nvSpPr>
        <dsp:cNvPr id="0" name=""/>
        <dsp:cNvSpPr/>
      </dsp:nvSpPr>
      <dsp:spPr>
        <a:xfrm>
          <a:off x="0" y="1426253"/>
          <a:ext cx="54008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6646DD-0A19-41BC-B3D3-FF38AD66A010}">
      <dsp:nvSpPr>
        <dsp:cNvPr id="0" name=""/>
        <dsp:cNvSpPr/>
      </dsp:nvSpPr>
      <dsp:spPr>
        <a:xfrm>
          <a:off x="0" y="1426253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When a new booking is created or an existing booking is updated, the system sends the relevant features through the same preprocessing steps used during training</a:t>
          </a:r>
        </a:p>
      </dsp:txBody>
      <dsp:txXfrm>
        <a:off x="0" y="1426253"/>
        <a:ext cx="5400858" cy="1426253"/>
      </dsp:txXfrm>
    </dsp:sp>
    <dsp:sp modelId="{1739DA94-91E3-40CF-A691-F64F5173FF1C}">
      <dsp:nvSpPr>
        <dsp:cNvPr id="0" name=""/>
        <dsp:cNvSpPr/>
      </dsp:nvSpPr>
      <dsp:spPr>
        <a:xfrm>
          <a:off x="0" y="2852507"/>
          <a:ext cx="540085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D29C0-68E1-4B06-BF5B-DEA310B09604}">
      <dsp:nvSpPr>
        <dsp:cNvPr id="0" name=""/>
        <dsp:cNvSpPr/>
      </dsp:nvSpPr>
      <dsp:spPr>
        <a:xfrm>
          <a:off x="0" y="2852507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The model returns a predicted probability of cancellation for that booking, along with a simple risk label such as low risk, medium risk or high risk</a:t>
          </a:r>
        </a:p>
      </dsp:txBody>
      <dsp:txXfrm>
        <a:off x="0" y="2852507"/>
        <a:ext cx="5400858" cy="1426253"/>
      </dsp:txXfrm>
    </dsp:sp>
    <dsp:sp modelId="{8D07A89A-BB99-4707-ACCD-7DBB6F3CF6B8}">
      <dsp:nvSpPr>
        <dsp:cNvPr id="0" name=""/>
        <dsp:cNvSpPr/>
      </dsp:nvSpPr>
      <dsp:spPr>
        <a:xfrm>
          <a:off x="0" y="4278761"/>
          <a:ext cx="540085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D6628E-A900-46A1-B2BE-21E0EDB97FE6}">
      <dsp:nvSpPr>
        <dsp:cNvPr id="0" name=""/>
        <dsp:cNvSpPr/>
      </dsp:nvSpPr>
      <dsp:spPr>
        <a:xfrm>
          <a:off x="0" y="4278761"/>
          <a:ext cx="5400858" cy="14262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Revenue managers can use predicted cancellation probabilities to plan over booking levels for each arrival date in a more data driven way</a:t>
          </a:r>
        </a:p>
      </dsp:txBody>
      <dsp:txXfrm>
        <a:off x="0" y="4278761"/>
        <a:ext cx="5400858" cy="142625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1A843A-3241-43EE-A20F-329A279DBE2C}">
      <dsp:nvSpPr>
        <dsp:cNvPr id="0" name=""/>
        <dsp:cNvSpPr/>
      </dsp:nvSpPr>
      <dsp:spPr>
        <a:xfrm>
          <a:off x="0" y="2785"/>
          <a:ext cx="540085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1E366-C7C2-4846-8283-FE80B00F9E9B}">
      <dsp:nvSpPr>
        <dsp:cNvPr id="0" name=""/>
        <dsp:cNvSpPr/>
      </dsp:nvSpPr>
      <dsp:spPr>
        <a:xfrm>
          <a:off x="0" y="2785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Reservations staff can focus extra confirmation messages or deposit requests on bookings that the model marks as medium or high risk</a:t>
          </a:r>
        </a:p>
      </dsp:txBody>
      <dsp:txXfrm>
        <a:off x="0" y="2785"/>
        <a:ext cx="5400858" cy="1899814"/>
      </dsp:txXfrm>
    </dsp:sp>
    <dsp:sp modelId="{0BD279BA-5102-4605-AD3C-29EF40FA3687}">
      <dsp:nvSpPr>
        <dsp:cNvPr id="0" name=""/>
        <dsp:cNvSpPr/>
      </dsp:nvSpPr>
      <dsp:spPr>
        <a:xfrm>
          <a:off x="0" y="1902600"/>
          <a:ext cx="5400858" cy="0"/>
        </a:xfrm>
        <a:prstGeom prst="line">
          <a:avLst/>
        </a:prstGeom>
        <a:solidFill>
          <a:schemeClr val="accent5">
            <a:hueOff val="-964475"/>
            <a:satOff val="10860"/>
            <a:lumOff val="7941"/>
            <a:alphaOff val="0"/>
          </a:schemeClr>
        </a:solidFill>
        <a:ln w="12700" cap="flat" cmpd="sng" algn="ctr">
          <a:solidFill>
            <a:schemeClr val="accent5">
              <a:hueOff val="-964475"/>
              <a:satOff val="10860"/>
              <a:lumOff val="794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CA50B1-C6EF-4756-AB0D-BD7BD7A27003}">
      <dsp:nvSpPr>
        <dsp:cNvPr id="0" name=""/>
        <dsp:cNvSpPr/>
      </dsp:nvSpPr>
      <dsp:spPr>
        <a:xfrm>
          <a:off x="0" y="1902600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Managers can monitor the overall distribution of predicted risk for upcoming dates and adjust pricing and marketing actions if many bookings look risky</a:t>
          </a:r>
        </a:p>
      </dsp:txBody>
      <dsp:txXfrm>
        <a:off x="0" y="1902600"/>
        <a:ext cx="5400858" cy="1899814"/>
      </dsp:txXfrm>
    </dsp:sp>
    <dsp:sp modelId="{217EE034-3F4D-477B-9443-49162953688C}">
      <dsp:nvSpPr>
        <dsp:cNvPr id="0" name=""/>
        <dsp:cNvSpPr/>
      </dsp:nvSpPr>
      <dsp:spPr>
        <a:xfrm>
          <a:off x="0" y="3802414"/>
          <a:ext cx="5400858" cy="0"/>
        </a:xfrm>
        <a:prstGeom prst="line">
          <a:avLst/>
        </a:prstGeom>
        <a:solidFill>
          <a:schemeClr val="accent5">
            <a:hueOff val="-1928950"/>
            <a:satOff val="21720"/>
            <a:lumOff val="15881"/>
            <a:alphaOff val="0"/>
          </a:schemeClr>
        </a:solidFill>
        <a:ln w="12700" cap="flat" cmpd="sng" algn="ctr">
          <a:solidFill>
            <a:schemeClr val="accent5">
              <a:hueOff val="-1928950"/>
              <a:satOff val="21720"/>
              <a:lumOff val="158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3E828D-AD6F-41C0-AD30-08EE887F4466}">
      <dsp:nvSpPr>
        <dsp:cNvPr id="0" name=""/>
        <dsp:cNvSpPr/>
      </dsp:nvSpPr>
      <dsp:spPr>
        <a:xfrm>
          <a:off x="0" y="3802414"/>
          <a:ext cx="5400858" cy="1899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2">
                  <a:lumMod val="60000"/>
                  <a:lumOff val="40000"/>
                </a:schemeClr>
              </a:solidFill>
            </a:rPr>
            <a:t>The model should be retrained on newer data at regular intervals, for example once per year or when booking patterns change, to keep performance stable and relevant</a:t>
          </a:r>
        </a:p>
      </dsp:txBody>
      <dsp:txXfrm>
        <a:off x="0" y="3802414"/>
        <a:ext cx="5400858" cy="18998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1ED71F-7E40-4160-8F95-D9C9F18CD8BD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E932B-CA1E-4090-85EA-1A2FB3AAA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89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6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2AD70-FD86-E854-8244-6D887D682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E90A2-9C9A-9518-CB3E-092813EE4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9F55-2306-1C5A-FF5F-22F4F71AB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D278E-2BF1-1F9A-0444-3B4BB372F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003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9C10D-5EA1-7E8B-5863-18F86E86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B7FD9-81F2-6A8F-EDED-41088324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653AE-D907-4D9B-31F4-054FD8D3B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723B8-F0DB-2F8B-94E3-64C262576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531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E1672-E1A2-9C5A-6823-03F5F1297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B1926-696E-0736-810E-AE90AE02E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32B3F4-B70E-A719-2C5A-9AA24DD76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CCEF8-3D43-32F6-E029-BE4254F33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436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2F30B-4346-A087-318C-6EDE0801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FA6BC-C260-145D-55A6-D065A27F5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53D38-CC39-BB28-1617-9D6044C7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2842E-7463-EBDE-BB97-5B6E07EFF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08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96EE-4B48-4035-7834-100065FD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DE9C9-0BE4-7692-4945-0B661CCC0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017E2-B88D-1CB0-704C-F3FD83A47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2E8F9-B75F-D1D9-5A22-112B7D4A3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932B-CA1E-4090-85EA-1A2FB3AAA62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0146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2F66-727D-4150-ADA5-49CF3A0F6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9829800" cy="2387600"/>
          </a:xfrm>
        </p:spPr>
        <p:txBody>
          <a:bodyPr anchor="b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D9A1FE-C39F-4D7C-B93D-F8C203A1D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602038"/>
            <a:ext cx="9829800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08AAC-7D41-4304-8D59-EF34B232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136525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9549D6DC-E1CB-4874-BF52-C3407230D20E}" type="datetime1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4D078-DE22-4F23-8B48-21FB1415C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4C1F5-608B-4335-9F2A-17F63D5F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50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B4A7-C566-48F4-B4B8-3A5E7B6C5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93F5-BC8B-452C-ACE2-C7E01D1B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A49B3-A57D-46C5-8462-0C52509F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13E51-B7F7-4C24-B8E3-5471755DC0E0}" type="datetime1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8C810-EAF4-4D86-84DD-2E574122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7E738-8574-490B-974B-9AD3B2AA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94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9764E-4B3D-4B6A-A210-B50E4F60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0AEC2-B6E6-4C09-A16F-5E2A1C9A0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37CAB-B545-4E42-BB5A-F1DAA933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1A59F-D956-4598-A3C1-AE72A5387751}" type="datetime1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D720B-7E58-43F4-9659-ADB2403A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5F53F-2FA5-4B5C-A151-F07BBC00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938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73D3-0F03-4BF4-831F-34E80BAC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09409-59F2-486F-A6D0-FAEE8FFF25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95847"/>
            <a:ext cx="5181600" cy="3981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87241-B390-47A6-8070-C3D4652F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95847"/>
            <a:ext cx="5181600" cy="3981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0B360-2ACA-4B93-9439-591B6D3F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0BBD69-7BD3-4731-8064-242619E92CBE}" type="datetime1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A73E2-CF78-404C-A86F-E70A284AE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8F42A-11E1-42A0-8ECF-A5BBA3B8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0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ECA31-EE14-41DD-9914-DA7138220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3152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22AB6-1657-4AE2-8607-2C77A25D7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9131"/>
            <a:ext cx="5157787" cy="693696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A6DC0-D4D5-4164-A3FD-6BB5CBB2B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0625"/>
            <a:ext cx="5157787" cy="310056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B35F8-95F3-43D1-8917-5836BAA90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9131"/>
            <a:ext cx="5183188" cy="693696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639E7-F4A3-4ADE-B290-0A4F9761B9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0625"/>
            <a:ext cx="5183188" cy="310056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6F296B-429F-4DFC-ABC3-0A078EA9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D77D9-239F-488B-9358-023C46BC7084}" type="datetime1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7103B9-D521-4910-AC15-F12F25CB9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3A6D9-123D-492C-B5CE-294EF255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0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2A22-4B4D-4F58-9783-A0469DA4D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152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E610-5457-4E8C-B568-B8D560773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61C24-7140-4FDE-92F3-654C6E2D3C1C}" type="datetime1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A57BB-288A-4A30-A4EC-FF0537BC2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414C89-B968-4A85-A035-E2997A5F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1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7A339C-4093-4B40-8C90-52F005CA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D6ACF-ECB9-4B5F-A429-08B8AC75E8EF}" type="datetime1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33F04-8E0A-4165-930C-527D781A7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2F57B-BEB6-4973-A362-38F638E0D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198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AC90-C2CA-44DD-8EF8-20BDD672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346326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915FB-D5F4-4CAD-AE70-3644E8180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31521"/>
            <a:ext cx="6172200" cy="512953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374DA3-3BAC-4045-825F-B3C27B897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429000"/>
            <a:ext cx="3932237" cy="24399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A0D65-0423-4E45-947A-E08C8569F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B429B-EE2A-486A-BDB9-0C848B4FAFDD}" type="datetime1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6FBD0-E49F-4DE6-9264-CEDB9BAA0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6B246-A768-4B2D-96C6-9F417852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1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B0C8-915E-4BF2-976E-B8D7EDC5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341564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14E6-8E50-4B50-A2E0-F9D20155E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7257"/>
            <a:ext cx="6172200" cy="517379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67A6C-5CA5-4EF0-B1C4-ED85FF255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429000"/>
            <a:ext cx="3932237" cy="24399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76474-31D4-4567-B4EC-B6AF2448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5FE4A-CB8D-40AB-BFFC-AAF37EA071CB}" type="datetime1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02DE0-33F5-4372-8EB5-F5746D34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5C2EF-849D-4B2C-8ED6-D26553657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60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F2C5-A3FC-44EF-BA15-CEC83C83D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040D3-67DB-455C-AD79-49E185DB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2B07A-258E-42DD-9A68-2C76F7D54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01D81-C4B9-4A87-89A7-22E29E6C9200}" type="datetime1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1E9BC-3BB8-40CD-9294-59A2E5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3979D-5589-4770-9D29-046F2B506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126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6693CD-CB65-4F37-A6DA-F300B93C1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31520"/>
            <a:ext cx="2628900" cy="53780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8D117-7AE6-4831-9867-5145F64A0C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31520"/>
            <a:ext cx="7734300" cy="53780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88CF8-397F-485E-8081-AFA4DADD4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07718-69F7-427E-95A3-C1246AF46913}" type="datetime1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E4773-4660-4F21-83CF-1A44939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59537-EB47-40FA-893E-785D6FE00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BAE12-D270-459D-897B-6833652BB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26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293296F-4C3A-4530-98F5-F83646ACE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89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914D2BD-3C47-433D-81FE-DC6C39595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2" y="-1"/>
            <a:ext cx="12192000" cy="6857996"/>
            <a:chOff x="572" y="-1"/>
            <a:chExt cx="12192000" cy="685799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3DD55E4-EA4F-4874-8B5B-6E0EAF4BBFC4}"/>
                </a:ext>
              </a:extLst>
            </p:cNvPr>
            <p:cNvCxnSpPr>
              <a:cxnSpLocks/>
            </p:cNvCxnSpPr>
            <p:nvPr/>
          </p:nvCxnSpPr>
          <p:spPr>
            <a:xfrm>
              <a:off x="1667" y="6276706"/>
              <a:ext cx="12189811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950BAF-7673-4138-AEA2-DE7D368CC357}"/>
                </a:ext>
              </a:extLst>
            </p:cNvPr>
            <p:cNvCxnSpPr>
              <a:cxnSpLocks/>
            </p:cNvCxnSpPr>
            <p:nvPr/>
          </p:nvCxnSpPr>
          <p:spPr>
            <a:xfrm>
              <a:off x="572" y="580876"/>
              <a:ext cx="12192000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BE3E2B5-EA1C-415A-941A-843C7EA148E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134324" y="3428956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87FA3A6-E398-4576-B6B8-3328028D84B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2794261" y="3428956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Graphic 33">
              <a:extLst>
                <a:ext uri="{FF2B5EF4-FFF2-40B4-BE49-F238E27FC236}">
                  <a16:creationId xmlns:a16="http://schemas.microsoft.com/office/drawing/2014/main" id="{EFB597D7-65E0-476A-B9EB-3AA6ED33884C}"/>
                </a:ext>
              </a:extLst>
            </p:cNvPr>
            <p:cNvSpPr/>
            <p:nvPr/>
          </p:nvSpPr>
          <p:spPr>
            <a:xfrm>
              <a:off x="4277016" y="-1"/>
              <a:ext cx="3637968" cy="580875"/>
            </a:xfrm>
            <a:custGeom>
              <a:avLst/>
              <a:gdLst>
                <a:gd name="connsiteX0" fmla="*/ 0 w 2679858"/>
                <a:gd name="connsiteY0" fmla="*/ 4953 h 434911"/>
                <a:gd name="connsiteX1" fmla="*/ 1336548 w 2679858"/>
                <a:gd name="connsiteY1" fmla="*/ 434912 h 434911"/>
                <a:gd name="connsiteX2" fmla="*/ 2679859 w 2679858"/>
                <a:gd name="connsiteY2" fmla="*/ 0 h 434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858" h="434911">
                  <a:moveTo>
                    <a:pt x="0" y="4953"/>
                  </a:moveTo>
                  <a:cubicBezTo>
                    <a:pt x="370427" y="274606"/>
                    <a:pt x="833723" y="434912"/>
                    <a:pt x="1336548" y="434912"/>
                  </a:cubicBezTo>
                  <a:cubicBezTo>
                    <a:pt x="1842326" y="434912"/>
                    <a:pt x="2308289" y="272701"/>
                    <a:pt x="2679859" y="0"/>
                  </a:cubicBezTo>
                </a:path>
              </a:pathLst>
            </a:custGeom>
            <a:noFill/>
            <a:ln w="1270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Graphic 33">
              <a:extLst>
                <a:ext uri="{FF2B5EF4-FFF2-40B4-BE49-F238E27FC236}">
                  <a16:creationId xmlns:a16="http://schemas.microsoft.com/office/drawing/2014/main" id="{11AA060A-BE0E-4687-8F9E-0E2955D9796D}"/>
                </a:ext>
              </a:extLst>
            </p:cNvPr>
            <p:cNvSpPr/>
            <p:nvPr/>
          </p:nvSpPr>
          <p:spPr>
            <a:xfrm rot="10800000">
              <a:off x="4305089" y="6276705"/>
              <a:ext cx="3581824" cy="581290"/>
            </a:xfrm>
            <a:custGeom>
              <a:avLst/>
              <a:gdLst>
                <a:gd name="connsiteX0" fmla="*/ 0 w 2679858"/>
                <a:gd name="connsiteY0" fmla="*/ 4953 h 434911"/>
                <a:gd name="connsiteX1" fmla="*/ 1336548 w 2679858"/>
                <a:gd name="connsiteY1" fmla="*/ 434912 h 434911"/>
                <a:gd name="connsiteX2" fmla="*/ 2679859 w 2679858"/>
                <a:gd name="connsiteY2" fmla="*/ 0 h 434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858" h="434911">
                  <a:moveTo>
                    <a:pt x="0" y="4953"/>
                  </a:moveTo>
                  <a:cubicBezTo>
                    <a:pt x="370427" y="274606"/>
                    <a:pt x="833723" y="434912"/>
                    <a:pt x="1336548" y="434912"/>
                  </a:cubicBezTo>
                  <a:cubicBezTo>
                    <a:pt x="1842326" y="434912"/>
                    <a:pt x="2308289" y="272701"/>
                    <a:pt x="2679859" y="0"/>
                  </a:cubicBezTo>
                </a:path>
              </a:pathLst>
            </a:custGeom>
            <a:noFill/>
            <a:ln w="1270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78318D-FE3E-41D7-9A8C-2065A2C4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3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06718-79E7-4159-A003-F86FE7B3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89408"/>
            <a:ext cx="10515600" cy="3821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F99FF-FFE2-431D-A0C8-A46C21712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13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15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0517C94-3B1E-4991-BED3-41F8B0158A00}" type="datetime1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3547E-668D-4191-847C-7424F7549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3450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15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6E6E-8527-4F63-A0C7-84CD44A2B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3467" y="3246434"/>
            <a:ext cx="6285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cap="all" spc="15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73BAE12-D270-459D-897B-6833652BB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13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A38827F1-3359-44F6-9009-43AE2B17F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"/>
            <a:ext cx="12192001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7AFAD67-5350-4773-886F-D6DD7E66D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7346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n abstract genetic concept">
            <a:extLst>
              <a:ext uri="{FF2B5EF4-FFF2-40B4-BE49-F238E27FC236}">
                <a16:creationId xmlns:a16="http://schemas.microsoft.com/office/drawing/2014/main" id="{EAC35AFC-08D7-37E8-F329-B200FBD4D2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4612" r="-1" b="19123"/>
          <a:stretch>
            <a:fillRect/>
          </a:stretch>
        </p:blipFill>
        <p:spPr>
          <a:xfrm>
            <a:off x="20" y="-1"/>
            <a:ext cx="12188932" cy="6873465"/>
          </a:xfrm>
          <a:prstGeom prst="rect">
            <a:avLst/>
          </a:prstGeom>
          <a:ln w="12700">
            <a:noFill/>
          </a:ln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654AC0FE-C43D-49AC-9730-284354DEC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8366" y="87"/>
            <a:ext cx="10933011" cy="6864297"/>
            <a:chOff x="628366" y="87"/>
            <a:chExt cx="10933011" cy="6864297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46F6FE9-8F24-4E96-8FA6-DABE61A20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0">
              <a:off x="-1282750" y="3429044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0C5E755-8FD9-4EBF-978B-015F9339F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0">
              <a:off x="6688336" y="3429043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C7F63B7-3E85-42EC-8447-F6699247E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28366" y="3413532"/>
              <a:ext cx="2585819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Graphic 11">
              <a:extLst>
                <a:ext uri="{FF2B5EF4-FFF2-40B4-BE49-F238E27FC236}">
                  <a16:creationId xmlns:a16="http://schemas.microsoft.com/office/drawing/2014/main" id="{AFDFA9EA-AAC0-416F-A0E9-ACD410E9DA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2063" y="702002"/>
              <a:ext cx="5759819" cy="6155995"/>
            </a:xfrm>
            <a:custGeom>
              <a:avLst/>
              <a:gdLst>
                <a:gd name="connsiteX0" fmla="*/ 0 w 4320540"/>
                <a:gd name="connsiteY0" fmla="*/ 4617720 h 4617719"/>
                <a:gd name="connsiteX1" fmla="*/ 0 w 4320540"/>
                <a:gd name="connsiteY1" fmla="*/ 4268439 h 4617719"/>
                <a:gd name="connsiteX2" fmla="*/ 0 w 4320540"/>
                <a:gd name="connsiteY2" fmla="*/ 2052352 h 4617719"/>
                <a:gd name="connsiteX3" fmla="*/ 2160270 w 4320540"/>
                <a:gd name="connsiteY3" fmla="*/ 0 h 4617719"/>
                <a:gd name="connsiteX4" fmla="*/ 2160270 w 4320540"/>
                <a:gd name="connsiteY4" fmla="*/ 0 h 4617719"/>
                <a:gd name="connsiteX5" fmla="*/ 4320540 w 4320540"/>
                <a:gd name="connsiteY5" fmla="*/ 2052352 h 4617719"/>
                <a:gd name="connsiteX6" fmla="*/ 4320540 w 4320540"/>
                <a:gd name="connsiteY6" fmla="*/ 2782443 h 4617719"/>
                <a:gd name="connsiteX7" fmla="*/ 4320540 w 4320540"/>
                <a:gd name="connsiteY7" fmla="*/ 4617720 h 461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20540" h="4617719">
                  <a:moveTo>
                    <a:pt x="0" y="4617720"/>
                  </a:moveTo>
                  <a:lnTo>
                    <a:pt x="0" y="4268439"/>
                  </a:lnTo>
                  <a:lnTo>
                    <a:pt x="0" y="2052352"/>
                  </a:lnTo>
                  <a:cubicBezTo>
                    <a:pt x="0" y="918877"/>
                    <a:pt x="967169" y="0"/>
                    <a:pt x="2160270" y="0"/>
                  </a:cubicBezTo>
                  <a:lnTo>
                    <a:pt x="2160270" y="0"/>
                  </a:lnTo>
                  <a:cubicBezTo>
                    <a:pt x="3353372" y="0"/>
                    <a:pt x="4320540" y="918877"/>
                    <a:pt x="4320540" y="2052352"/>
                  </a:cubicBezTo>
                  <a:lnTo>
                    <a:pt x="4320540" y="2782443"/>
                  </a:lnTo>
                  <a:lnTo>
                    <a:pt x="4320540" y="4617720"/>
                  </a:lnTo>
                </a:path>
              </a:pathLst>
            </a:custGeom>
            <a:noFill/>
            <a:ln w="1270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4EF7E7E-9948-4D78-BE70-F624A62D8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74010" y="3413529"/>
              <a:ext cx="2587367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975AAAB-9AEC-496F-94E4-CE5330CB49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0">
              <a:off x="8132421" y="3431507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B5BF383-42C5-4FE4-894A-17B84AF22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rot="16200000">
              <a:off x="-2796164" y="3435428"/>
              <a:ext cx="6857912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B859AF8-DBE8-F4C2-B4DA-2F4D9874C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24931" y="1456233"/>
            <a:ext cx="5248275" cy="2387600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Hotel Booking Cancellation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4B9A-8644-67A1-7501-C776C242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7612" y="3796366"/>
            <a:ext cx="5248275" cy="865198"/>
          </a:xfrm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MIS 637 - Data Analytics and Machine Learning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D51F794-3E49-ABFD-9AAF-9102E83C2188}"/>
              </a:ext>
            </a:extLst>
          </p:cNvPr>
          <p:cNvSpPr txBox="1">
            <a:spLocks/>
          </p:cNvSpPr>
          <p:nvPr/>
        </p:nvSpPr>
        <p:spPr>
          <a:xfrm>
            <a:off x="3477834" y="4774266"/>
            <a:ext cx="2122866" cy="196943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600" b="1" dirty="0">
                <a:solidFill>
                  <a:srgbClr val="FFFFFF"/>
                </a:solidFill>
              </a:rPr>
              <a:t>Prepared by: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</a:rPr>
              <a:t>Tejal Kuwar</a:t>
            </a:r>
            <a:br>
              <a:rPr lang="en-US" sz="1600" dirty="0">
                <a:solidFill>
                  <a:srgbClr val="FFFFFF"/>
                </a:solidFill>
              </a:rPr>
            </a:br>
            <a:r>
              <a:rPr lang="en-US" sz="1600" dirty="0">
                <a:solidFill>
                  <a:srgbClr val="FFFFFF"/>
                </a:solidFill>
              </a:rPr>
              <a:t>Bhawna</a:t>
            </a:r>
            <a:br>
              <a:rPr lang="en-US" sz="1600" dirty="0">
                <a:solidFill>
                  <a:srgbClr val="FFFFFF"/>
                </a:solidFill>
              </a:rPr>
            </a:br>
            <a:r>
              <a:rPr lang="en-US" sz="1600" dirty="0">
                <a:solidFill>
                  <a:srgbClr val="FFFFFF"/>
                </a:solidFill>
              </a:rPr>
              <a:t>Akshay</a:t>
            </a:r>
            <a:br>
              <a:rPr lang="en-US" sz="1600" dirty="0">
                <a:solidFill>
                  <a:srgbClr val="FFFFFF"/>
                </a:solidFill>
              </a:rPr>
            </a:br>
            <a:r>
              <a:rPr lang="en-US" sz="1600" dirty="0">
                <a:solidFill>
                  <a:srgbClr val="FFFFFF"/>
                </a:solidFill>
              </a:rPr>
              <a:t>Nithin</a:t>
            </a:r>
            <a:br>
              <a:rPr lang="en-US" sz="1600" dirty="0">
                <a:solidFill>
                  <a:srgbClr val="FFFFFF"/>
                </a:solidFill>
              </a:rPr>
            </a:br>
            <a:r>
              <a:rPr lang="en-US" sz="1600" dirty="0">
                <a:solidFill>
                  <a:srgbClr val="FFFFFF"/>
                </a:solidFill>
              </a:rPr>
              <a:t>Yashika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07BF20F-CD7F-E4CB-2879-AC9AD5D9D65E}"/>
              </a:ext>
            </a:extLst>
          </p:cNvPr>
          <p:cNvSpPr txBox="1">
            <a:spLocks/>
          </p:cNvSpPr>
          <p:nvPr/>
        </p:nvSpPr>
        <p:spPr>
          <a:xfrm>
            <a:off x="6049068" y="4723256"/>
            <a:ext cx="3003178" cy="8250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600" b="1" dirty="0">
                <a:solidFill>
                  <a:srgbClr val="FFFFFF"/>
                </a:solidFill>
              </a:rPr>
              <a:t>Professor: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</a:rPr>
              <a:t>Prof. Mahmoud Daneshmand</a:t>
            </a:r>
          </a:p>
        </p:txBody>
      </p:sp>
    </p:spTree>
    <p:extLst>
      <p:ext uri="{BB962C8B-B14F-4D97-AF65-F5344CB8AC3E}">
        <p14:creationId xmlns:p14="http://schemas.microsoft.com/office/powerpoint/2010/main" val="40333345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10C978-51B5-420C-9A05-C8F194EAC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" y="-597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D34D1C-4E49-4D32-96F1-E49CEBBF8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903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16231A-2A38-39E0-EC5B-67FF7E0E0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81337"/>
            <a:ext cx="5836754" cy="2711736"/>
          </a:xfrm>
        </p:spPr>
        <p:txBody>
          <a:bodyPr>
            <a:normAutofit/>
          </a:bodyPr>
          <a:lstStyle/>
          <a:p>
            <a:r>
              <a:rPr lang="en-US" dirty="0"/>
              <a:t>Table of content: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966B9-9838-FDB4-A5FA-C419B994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3429000"/>
            <a:ext cx="5836754" cy="2601285"/>
          </a:xfrm>
        </p:spPr>
        <p:txBody>
          <a:bodyPr>
            <a:normAutofit/>
          </a:bodyPr>
          <a:lstStyle/>
          <a:p>
            <a:r>
              <a:rPr lang="en-US" dirty="0"/>
              <a:t>Introduction – Problem statement</a:t>
            </a:r>
          </a:p>
          <a:p>
            <a:r>
              <a:rPr lang="en-US" dirty="0"/>
              <a:t>Methodology – CRISP-DM</a:t>
            </a:r>
          </a:p>
          <a:p>
            <a:r>
              <a:rPr lang="en-US" dirty="0"/>
              <a:t>Results with Random Forest and comparison with other models</a:t>
            </a:r>
          </a:p>
          <a:p>
            <a:r>
              <a:rPr lang="en-US" dirty="0"/>
              <a:t>Conclusion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3E72256-336B-4C56-A208-D12E28599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33816" y="-6437"/>
            <a:ext cx="4133553" cy="6864437"/>
            <a:chOff x="7433816" y="-6437"/>
            <a:chExt cx="4133553" cy="686443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D1A7D90-D071-42CE-8999-521FE5EB0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434228" y="3435437"/>
              <a:ext cx="555971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8BA3207-8B24-423E-876F-EED4F64FC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990199" y="840583"/>
              <a:ext cx="3021199" cy="5189709"/>
            </a:xfrm>
            <a:custGeom>
              <a:avLst/>
              <a:gdLst>
                <a:gd name="connsiteX0" fmla="*/ 1700213 w 3400426"/>
                <a:gd name="connsiteY0" fmla="*/ 5841130 h 5841130"/>
                <a:gd name="connsiteX1" fmla="*/ 0 w 3400426"/>
                <a:gd name="connsiteY1" fmla="*/ 4140917 h 5841130"/>
                <a:gd name="connsiteX2" fmla="*/ 0 w 3400426"/>
                <a:gd name="connsiteY2" fmla="*/ 3536080 h 5841130"/>
                <a:gd name="connsiteX3" fmla="*/ 0 w 3400426"/>
                <a:gd name="connsiteY3" fmla="*/ 3536080 h 5841130"/>
                <a:gd name="connsiteX4" fmla="*/ 0 w 3400426"/>
                <a:gd name="connsiteY4" fmla="*/ 1700213 h 5841130"/>
                <a:gd name="connsiteX5" fmla="*/ 1700213 w 3400426"/>
                <a:gd name="connsiteY5" fmla="*/ 0 h 5841130"/>
                <a:gd name="connsiteX6" fmla="*/ 3400426 w 3400426"/>
                <a:gd name="connsiteY6" fmla="*/ 1700213 h 5841130"/>
                <a:gd name="connsiteX7" fmla="*/ 3400426 w 3400426"/>
                <a:gd name="connsiteY7" fmla="*/ 2305050 h 5841130"/>
                <a:gd name="connsiteX8" fmla="*/ 3400426 w 3400426"/>
                <a:gd name="connsiteY8" fmla="*/ 2305050 h 5841130"/>
                <a:gd name="connsiteX9" fmla="*/ 3400426 w 3400426"/>
                <a:gd name="connsiteY9" fmla="*/ 4140917 h 5841130"/>
                <a:gd name="connsiteX10" fmla="*/ 1700213 w 3400426"/>
                <a:gd name="connsiteY10" fmla="*/ 5841130 h 5841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0426" h="5841130">
                  <a:moveTo>
                    <a:pt x="1700213" y="5841130"/>
                  </a:moveTo>
                  <a:cubicBezTo>
                    <a:pt x="761211" y="5841130"/>
                    <a:pt x="0" y="5079919"/>
                    <a:pt x="0" y="4140917"/>
                  </a:cubicBezTo>
                  <a:lnTo>
                    <a:pt x="0" y="3536080"/>
                  </a:lnTo>
                  <a:lnTo>
                    <a:pt x="0" y="3536080"/>
                  </a:lnTo>
                  <a:lnTo>
                    <a:pt x="0" y="1700213"/>
                  </a:lnTo>
                  <a:cubicBezTo>
                    <a:pt x="0" y="761211"/>
                    <a:pt x="761211" y="0"/>
                    <a:pt x="1700213" y="0"/>
                  </a:cubicBezTo>
                  <a:cubicBezTo>
                    <a:pt x="2639215" y="0"/>
                    <a:pt x="3400426" y="761211"/>
                    <a:pt x="3400426" y="1700213"/>
                  </a:cubicBezTo>
                  <a:lnTo>
                    <a:pt x="3400426" y="2305050"/>
                  </a:lnTo>
                  <a:lnTo>
                    <a:pt x="3400426" y="2305050"/>
                  </a:lnTo>
                  <a:lnTo>
                    <a:pt x="3400426" y="4140917"/>
                  </a:lnTo>
                  <a:cubicBezTo>
                    <a:pt x="3400426" y="5079919"/>
                    <a:pt x="2639215" y="5841130"/>
                    <a:pt x="1700213" y="5841130"/>
                  </a:cubicBezTo>
                  <a:close/>
                </a:path>
              </a:pathLst>
            </a:custGeom>
            <a:noFill/>
            <a:ln w="127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36E21C5-DC18-4475-9613-1AF97FC0C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98849" y="0"/>
              <a:ext cx="5783" cy="685800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8498F04-5415-4A8B-A069-CF07486EC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11398" y="3435437"/>
              <a:ext cx="555971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Graphic 8">
              <a:extLst>
                <a:ext uri="{FF2B5EF4-FFF2-40B4-BE49-F238E27FC236}">
                  <a16:creationId xmlns:a16="http://schemas.microsoft.com/office/drawing/2014/main" id="{7536A5CA-5F9D-44C7-87C6-A12CF740D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3982" y="0"/>
              <a:ext cx="3021199" cy="1510599"/>
            </a:xfrm>
            <a:custGeom>
              <a:avLst/>
              <a:gdLst>
                <a:gd name="connsiteX0" fmla="*/ 4467225 w 4467225"/>
                <a:gd name="connsiteY0" fmla="*/ 0 h 2233612"/>
                <a:gd name="connsiteX1" fmla="*/ 2233613 w 4467225"/>
                <a:gd name="connsiteY1" fmla="*/ 2233613 h 2233612"/>
                <a:gd name="connsiteX2" fmla="*/ 0 w 4467225"/>
                <a:gd name="connsiteY2" fmla="*/ 0 h 2233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67225" h="2233612">
                  <a:moveTo>
                    <a:pt x="4467225" y="0"/>
                  </a:moveTo>
                  <a:cubicBezTo>
                    <a:pt x="4467225" y="1233583"/>
                    <a:pt x="3467195" y="2233613"/>
                    <a:pt x="2233613" y="2233613"/>
                  </a:cubicBezTo>
                  <a:cubicBezTo>
                    <a:pt x="1000030" y="2233613"/>
                    <a:pt x="0" y="1233583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Graphic 8">
              <a:extLst>
                <a:ext uri="{FF2B5EF4-FFF2-40B4-BE49-F238E27FC236}">
                  <a16:creationId xmlns:a16="http://schemas.microsoft.com/office/drawing/2014/main" id="{BE6FB307-61DF-42E4-ACB8-4E47813A81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985885" y="5347397"/>
              <a:ext cx="3021199" cy="1510599"/>
            </a:xfrm>
            <a:custGeom>
              <a:avLst/>
              <a:gdLst>
                <a:gd name="connsiteX0" fmla="*/ 4467225 w 4467225"/>
                <a:gd name="connsiteY0" fmla="*/ 0 h 2233612"/>
                <a:gd name="connsiteX1" fmla="*/ 2233613 w 4467225"/>
                <a:gd name="connsiteY1" fmla="*/ 2233613 h 2233612"/>
                <a:gd name="connsiteX2" fmla="*/ 0 w 4467225"/>
                <a:gd name="connsiteY2" fmla="*/ 0 h 2233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67225" h="2233612">
                  <a:moveTo>
                    <a:pt x="4467225" y="0"/>
                  </a:moveTo>
                  <a:cubicBezTo>
                    <a:pt x="4467225" y="1233583"/>
                    <a:pt x="3467195" y="2233613"/>
                    <a:pt x="2233613" y="2233613"/>
                  </a:cubicBezTo>
                  <a:cubicBezTo>
                    <a:pt x="1000030" y="2233613"/>
                    <a:pt x="0" y="1233583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7C9104A-0B2E-42A7-8F27-CCEFDBA9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433816" y="0"/>
              <a:ext cx="5783" cy="685800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7C0EC34-7095-4362-AA58-F572131373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60990" y="-6437"/>
              <a:ext cx="5783" cy="685800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C19E597-F67B-455A-9D77-8B564DC5DB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434228" y="581337"/>
              <a:ext cx="4133088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CFF4279-F451-4DED-87EB-1899D7E4EB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434228" y="6276734"/>
              <a:ext cx="4133088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06273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4ED78-264F-3A77-66B2-6F4D27A37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- 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17DF-F07C-17C7-1838-72559BC37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Hotels lose revenue when guests cancel late or do not show</a:t>
            </a:r>
          </a:p>
          <a:p>
            <a:r>
              <a:rPr lang="en-US" dirty="0"/>
              <a:t>Over booking is used to protect revenue but can hurt guest experience if not planned carefully</a:t>
            </a:r>
          </a:p>
          <a:p>
            <a:r>
              <a:rPr lang="en-US" b="1" dirty="0"/>
              <a:t>Our goal </a:t>
            </a:r>
            <a:r>
              <a:rPr lang="en-US" dirty="0"/>
              <a:t>– To predict at booking time whether a reservation is likely to be cancelled</a:t>
            </a:r>
          </a:p>
          <a:p>
            <a:r>
              <a:rPr lang="en-US" dirty="0"/>
              <a:t>With a reliable prediction, the hotel can:</a:t>
            </a:r>
          </a:p>
          <a:p>
            <a:pPr lvl="1"/>
            <a:r>
              <a:rPr lang="en-US" dirty="0"/>
              <a:t>Choose over booking levels more intelligently</a:t>
            </a:r>
          </a:p>
          <a:p>
            <a:pPr lvl="1"/>
            <a:r>
              <a:rPr lang="en-US" dirty="0"/>
              <a:t>Focus confirmation efforts on high-risk bookings</a:t>
            </a:r>
          </a:p>
          <a:p>
            <a:pPr lvl="1"/>
            <a:r>
              <a:rPr lang="en-US" dirty="0"/>
              <a:t>Protect service quality for low-risk bookings</a:t>
            </a:r>
          </a:p>
        </p:txBody>
      </p:sp>
    </p:spTree>
    <p:extLst>
      <p:ext uri="{BB962C8B-B14F-4D97-AF65-F5344CB8AC3E}">
        <p14:creationId xmlns:p14="http://schemas.microsoft.com/office/powerpoint/2010/main" val="4229000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"/>
            <a:ext cx="12192001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06127CE-6F15-49AE-9751-398F3AC67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38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167D4D-1DAE-8AD4-A185-1F51BB00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285" y="1179468"/>
            <a:ext cx="3620067" cy="1346200"/>
          </a:xfrm>
        </p:spPr>
        <p:txBody>
          <a:bodyPr anchor="b">
            <a:noAutofit/>
          </a:bodyPr>
          <a:lstStyle/>
          <a:p>
            <a:r>
              <a:rPr lang="en-US" dirty="0"/>
              <a:t>Methodology - CRISP – DM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AA61E-9E39-1C84-2AAD-FD68A42C7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699" y="2597150"/>
            <a:ext cx="4396835" cy="4057650"/>
          </a:xfrm>
        </p:spPr>
        <p:txBody>
          <a:bodyPr>
            <a:normAutofit fontScale="92500"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We followed the standard CRISP DM framework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Business understanding </a:t>
            </a:r>
            <a:r>
              <a:rPr lang="en-US" sz="1500" dirty="0"/>
              <a:t>- Defines the hotel cancellation problem and objectives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Data understanding </a:t>
            </a:r>
            <a:r>
              <a:rPr lang="en-US" sz="1500" dirty="0"/>
              <a:t>- Exploring the hotel bookings data set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Data preparation </a:t>
            </a:r>
            <a:r>
              <a:rPr lang="en-US" sz="1500" dirty="0"/>
              <a:t>- Cleaning data, handling missing values, encoding features and splitting into train and test datasets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Modelling</a:t>
            </a:r>
            <a:r>
              <a:rPr lang="en-US" sz="1500" dirty="0"/>
              <a:t> - Building several predictive models including Random Forest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Evaluation</a:t>
            </a:r>
            <a:r>
              <a:rPr lang="en-US" sz="1500" dirty="0"/>
              <a:t> - Compare models on accuracy, </a:t>
            </a:r>
            <a:r>
              <a:rPr lang="en-US" sz="1500" i="1" dirty="0"/>
              <a:t>ROC - AUC  </a:t>
            </a:r>
            <a:r>
              <a:rPr lang="en-US" sz="1500" dirty="0"/>
              <a:t>and inspect confusion matrices</a:t>
            </a:r>
          </a:p>
          <a:p>
            <a:pPr lvl="1">
              <a:lnSpc>
                <a:spcPct val="100000"/>
              </a:lnSpc>
            </a:pPr>
            <a:r>
              <a:rPr lang="en-US" sz="1500" b="1" dirty="0"/>
              <a:t>Deployment</a:t>
            </a:r>
            <a:r>
              <a:rPr lang="en-US" sz="1500" dirty="0"/>
              <a:t> - Designing a simple way the hotel could use the final model in its booking system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CAB7548-8099-4066-AA4A-668904679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168579" y="-6437"/>
            <a:ext cx="6403756" cy="6864437"/>
            <a:chOff x="5168579" y="-6437"/>
            <a:chExt cx="6403756" cy="686443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DD6D54C-5C05-40DE-8EAF-FA50D609AE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71535" y="3375606"/>
              <a:ext cx="6400800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B0CFF5B-7CFC-4A1B-811A-262201C04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71535" y="567246"/>
              <a:ext cx="6400800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BD7D63C-11FE-48D4-8433-A188CDAB23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71535" y="6262643"/>
              <a:ext cx="6400800" cy="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0EB69FA-9640-4C07-9993-F74D211FB5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V="1">
              <a:off x="8362244" y="565603"/>
              <a:ext cx="0" cy="569704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887ECAA-6BDB-4356-A66A-D28C7026B6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68579" y="0"/>
              <a:ext cx="5783" cy="685800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C3365E-17A9-4CC8-BE01-3969BF4C8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60990" y="-6437"/>
              <a:ext cx="5783" cy="6858000"/>
            </a:xfrm>
            <a:prstGeom prst="line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0D2772B-B5BE-9844-9482-EBA826163F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8" b="-467"/>
          <a:stretch>
            <a:fillRect/>
          </a:stretch>
        </p:blipFill>
        <p:spPr>
          <a:xfrm>
            <a:off x="5352373" y="1126412"/>
            <a:ext cx="6071687" cy="4547308"/>
          </a:xfrm>
          <a:custGeom>
            <a:avLst/>
            <a:gdLst/>
            <a:ahLst/>
            <a:cxnLst/>
            <a:rect l="l" t="t" r="r" b="b"/>
            <a:pathLst>
              <a:path w="6391928" h="4660591">
                <a:moveTo>
                  <a:pt x="2329728" y="0"/>
                </a:moveTo>
                <a:lnTo>
                  <a:pt x="2398607" y="0"/>
                </a:lnTo>
                <a:lnTo>
                  <a:pt x="3158515" y="0"/>
                </a:lnTo>
                <a:lnTo>
                  <a:pt x="3993320" y="0"/>
                </a:lnTo>
                <a:lnTo>
                  <a:pt x="4062199" y="0"/>
                </a:lnTo>
                <a:cubicBezTo>
                  <a:pt x="5348874" y="0"/>
                  <a:pt x="6391928" y="1043309"/>
                  <a:pt x="6391928" y="2330293"/>
                </a:cubicBezTo>
                <a:cubicBezTo>
                  <a:pt x="6391928" y="3617285"/>
                  <a:pt x="5348874" y="4660591"/>
                  <a:pt x="4062199" y="4660591"/>
                </a:cubicBezTo>
                <a:lnTo>
                  <a:pt x="3993320" y="4660591"/>
                </a:lnTo>
                <a:lnTo>
                  <a:pt x="3233415" y="4660591"/>
                </a:lnTo>
                <a:lnTo>
                  <a:pt x="2398607" y="4660591"/>
                </a:lnTo>
                <a:lnTo>
                  <a:pt x="2329728" y="4660591"/>
                </a:lnTo>
                <a:cubicBezTo>
                  <a:pt x="1043053" y="4660591"/>
                  <a:pt x="0" y="3617281"/>
                  <a:pt x="0" y="2330297"/>
                </a:cubicBezTo>
                <a:cubicBezTo>
                  <a:pt x="0" y="1043306"/>
                  <a:pt x="1043053" y="0"/>
                  <a:pt x="2329728" y="0"/>
                </a:cubicBezTo>
                <a:close/>
              </a:path>
            </a:pathLst>
          </a:custGeom>
          <a:ln w="12700">
            <a:solidFill>
              <a:schemeClr val="accent4"/>
            </a:solidFill>
          </a:ln>
        </p:spPr>
      </p:pic>
    </p:spTree>
    <p:extLst>
      <p:ext uri="{BB962C8B-B14F-4D97-AF65-F5344CB8AC3E}">
        <p14:creationId xmlns:p14="http://schemas.microsoft.com/office/powerpoint/2010/main" val="916073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2C43C-48E9-8EB1-7676-C31F38B5C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/>
              <a:t>1. Business Understanding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83AAAC-BA63-BC39-777A-07427D1D74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439148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20709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A349D2-C15B-D478-1743-503BAC77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A935D-3BD6-D7A3-5443-7624AFEAA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2. Data Understanding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54664E1-E551-462F-BDCB-4953E26AD9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2579753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3919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95A5FD-7CFE-9DFB-8F20-B6C80109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9D098-7297-B5C4-4817-4C5FF27E1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3. Data Preparation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1A4B4AD-89CC-2581-9446-6CAFF13D29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9752705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95163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741B07-1B92-7F3A-7FF5-6599C6CB3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C6226D-AE56-3A4B-7428-1E7BD11BD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3. Data Preparation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BAC8D3D-483F-1293-ECC9-120D044A53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6720869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13161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81E1B9-CD2E-451F-3D47-4B9950F36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28C4EE-A1F6-1CC1-07F2-40A14EF87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4. Modelling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995AC2D-DF2C-0AAB-7FE5-24363CFD49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2715074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82416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73A4B4-9C05-AF70-F04C-FDF248BD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4. Modelling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149CD1-B23F-0419-0F45-B62EE7EED7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90154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48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E2CBF-BBE0-43EC-45EE-90E972847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350085-C201-E69D-6059-B53F25D8D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 dirty="0"/>
              <a:t>5.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A428D3-4728-B41A-DE63-2BEC4B71B7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2381464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6290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974AE-590D-EB04-1D4C-40524C01C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4A8DCD-316C-CB47-B8A1-1EA8D7EAF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276541" cy="5705015"/>
          </a:xfrm>
        </p:spPr>
        <p:txBody>
          <a:bodyPr anchor="ctr">
            <a:normAutofit/>
          </a:bodyPr>
          <a:lstStyle/>
          <a:p>
            <a:r>
              <a:rPr lang="en-US" sz="5200"/>
              <a:t>5. Evaluation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8BFAB67-FBAC-6D9B-E606-3E52870EFD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870702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659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9E914-AA43-8355-133E-FFDE208DE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5CC039-8D48-F0D4-DEEE-7E657D93C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330700" cy="5705015"/>
          </a:xfrm>
        </p:spPr>
        <p:txBody>
          <a:bodyPr anchor="ctr">
            <a:normAutofit/>
          </a:bodyPr>
          <a:lstStyle/>
          <a:p>
            <a:r>
              <a:rPr lang="en-US" sz="5400" dirty="0"/>
              <a:t>6. Deployment</a:t>
            </a:r>
            <a:endParaRPr lang="en-US" sz="52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FF5DC4E-BA7A-5065-8967-76D85DA799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1459669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9796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10345-FBBD-6D07-3F1E-4E9AECCD2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E6FDE22-1F54-452D-A9BA-1BE9FDB53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C01FB2-6D50-41C9-BE00-29B0F992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094F1-7588-272C-A9CF-93A40DFF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6491"/>
            <a:ext cx="4343400" cy="5705015"/>
          </a:xfrm>
        </p:spPr>
        <p:txBody>
          <a:bodyPr anchor="ctr">
            <a:normAutofit/>
          </a:bodyPr>
          <a:lstStyle/>
          <a:p>
            <a:r>
              <a:rPr lang="en-US" sz="5400" dirty="0"/>
              <a:t>6. Deployment</a:t>
            </a:r>
            <a:endParaRPr lang="en-US" sz="52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1F47E4B-80C0-168E-174B-9A823118F7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3581249"/>
              </p:ext>
            </p:extLst>
          </p:nvPr>
        </p:nvGraphicFramePr>
        <p:xfrm>
          <a:off x="6147621" y="576492"/>
          <a:ext cx="5400858" cy="57050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09105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43B2-2B70-C71C-FD91-7302F98C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8F6FF-FA05-566B-9144-83662C21F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900943"/>
      </p:ext>
    </p:extLst>
  </p:cSld>
  <p:clrMapOvr>
    <a:masterClrMapping/>
  </p:clrMapOvr>
</p:sld>
</file>

<file path=ppt/theme/theme1.xml><?xml version="1.0" encoding="utf-8"?>
<a:theme xmlns:a="http://schemas.openxmlformats.org/drawingml/2006/main" name="ArchVTI">
  <a:themeElements>
    <a:clrScheme name="Custom 42">
      <a:dk1>
        <a:sysClr val="windowText" lastClr="000000"/>
      </a:dk1>
      <a:lt1>
        <a:sysClr val="window" lastClr="FFFFFF"/>
      </a:lt1>
      <a:dk2>
        <a:srgbClr val="642626"/>
      </a:dk2>
      <a:lt2>
        <a:srgbClr val="F3F0E9"/>
      </a:lt2>
      <a:accent1>
        <a:srgbClr val="556D6F"/>
      </a:accent1>
      <a:accent2>
        <a:srgbClr val="C05050"/>
      </a:accent2>
      <a:accent3>
        <a:srgbClr val="BF873A"/>
      </a:accent3>
      <a:accent4>
        <a:srgbClr val="D8897E"/>
      </a:accent4>
      <a:accent5>
        <a:srgbClr val="A4976B"/>
      </a:accent5>
      <a:accent6>
        <a:srgbClr val="D49D8C"/>
      </a:accent6>
      <a:hlink>
        <a:srgbClr val="D13D6E"/>
      </a:hlink>
      <a:folHlink>
        <a:srgbClr val="6C9D92"/>
      </a:folHlink>
    </a:clrScheme>
    <a:fontScheme name="Custom 16">
      <a:majorFont>
        <a:latin typeface="Footlight MT Ligh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VTI" id="{23FE938F-4DF0-4C94-8546-C2AC6D26660D}" vid="{62E62DA1-385F-4EE3-8841-58A87FAE20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1158</Words>
  <Application>Microsoft Office PowerPoint</Application>
  <PresentationFormat>Widescreen</PresentationFormat>
  <Paragraphs>91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Avenir Next LT Pro</vt:lpstr>
      <vt:lpstr>Footlight MT Light</vt:lpstr>
      <vt:lpstr>ArchVTI</vt:lpstr>
      <vt:lpstr>Hotel Booking Cancellation Prediction</vt:lpstr>
      <vt:lpstr>Table of content:</vt:lpstr>
      <vt:lpstr>Introduction - Problem statement</vt:lpstr>
      <vt:lpstr>Methodology - CRISP – DM</vt:lpstr>
      <vt:lpstr>1. Business Understanding</vt:lpstr>
      <vt:lpstr>2. Data Understanding</vt:lpstr>
      <vt:lpstr>3. Data Preparation</vt:lpstr>
      <vt:lpstr>3. Data Preparation</vt:lpstr>
      <vt:lpstr>4. Modelling</vt:lpstr>
      <vt:lpstr>4. Modelling</vt:lpstr>
      <vt:lpstr>5. Evaluation</vt:lpstr>
      <vt:lpstr>5. Evaluation</vt:lpstr>
      <vt:lpstr>6. Deployment</vt:lpstr>
      <vt:lpstr>6. Deployment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Vanaparthy</dc:creator>
  <cp:lastModifiedBy>Akshay Vanaparthy</cp:lastModifiedBy>
  <cp:revision>12</cp:revision>
  <dcterms:created xsi:type="dcterms:W3CDTF">2025-12-06T18:20:02Z</dcterms:created>
  <dcterms:modified xsi:type="dcterms:W3CDTF">2025-12-06T21:37:55Z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2025-12-06T18:20:04Z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52959f2c-5985-4bec-8925-71d2eb5c3842</vt:lpwstr>
  </property>
  <property fmtid="{D5CDD505-2E9C-101B-9397-08002B2CF9AE}" pid="7" name="MSIP_Label_defa4170-0d19-0005-0004-bc88714345d2_ActionId">
    <vt:lpwstr>8c1cf406-633d-44dc-8576-2ecad38d0fce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