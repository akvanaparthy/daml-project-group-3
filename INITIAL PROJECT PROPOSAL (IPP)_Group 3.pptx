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905" y="935106"/>
            <a:ext cx="7702162" cy="4800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237E"/>
                </a:solidFill>
              </a:rPr>
              <a:t>Hotel Booking Cancellation Prediction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2469170" y="1700910"/>
            <a:ext cx="420566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6B35"/>
                </a:solidFill>
              </a:rPr>
              <a:t>MIS 637 A - Data Analytics &amp; Machine Learning</a:t>
            </a:r>
            <a:endParaRPr lang="en-US" sz="1295" dirty="0"/>
          </a:p>
        </p:txBody>
      </p:sp>
      <p:sp>
        <p:nvSpPr>
          <p:cNvPr id="5" name="Text 2"/>
          <p:cNvSpPr/>
          <p:nvPr/>
        </p:nvSpPr>
        <p:spPr>
          <a:xfrm>
            <a:off x="3546509" y="2336704"/>
            <a:ext cx="20509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spc="1" kern="0" dirty="0">
                <a:solidFill>
                  <a:srgbClr val="1A237E"/>
                </a:solidFill>
              </a:rPr>
              <a:t>Team Members (Group 3)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3546509" y="2693891"/>
            <a:ext cx="205098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Tejal Rajendra Kuwar</a:t>
            </a:r>
            <a:endParaRPr lang="en-US" sz="1159" dirty="0"/>
          </a:p>
        </p:txBody>
      </p:sp>
      <p:sp>
        <p:nvSpPr>
          <p:cNvPr id="7" name="Text 4"/>
          <p:cNvSpPr/>
          <p:nvPr/>
        </p:nvSpPr>
        <p:spPr>
          <a:xfrm>
            <a:off x="3546509" y="3001073"/>
            <a:ext cx="205098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Bhawna</a:t>
            </a:r>
            <a:endParaRPr lang="en-US" sz="1159" dirty="0"/>
          </a:p>
        </p:txBody>
      </p:sp>
      <p:sp>
        <p:nvSpPr>
          <p:cNvPr id="8" name="Text 5"/>
          <p:cNvSpPr/>
          <p:nvPr/>
        </p:nvSpPr>
        <p:spPr>
          <a:xfrm>
            <a:off x="3546509" y="3308254"/>
            <a:ext cx="205098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Akshay Vanaparthi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3546509" y="3615435"/>
            <a:ext cx="205098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Nithin Reddy Venna</a:t>
            </a:r>
            <a:endParaRPr lang="en-US" sz="1159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7152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A237E"/>
                </a:solidFill>
              </a:rPr>
              <a:t>Problem Statement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375" y="1407319"/>
            <a:ext cx="7715250" cy="48577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Hotel cancellations create major financial losses for hotels and make it difficult to manage room availability, staffing, and revenue forecasting.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14375" y="2143125"/>
            <a:ext cx="7715250" cy="1028700"/>
          </a:xfrm>
          <a:prstGeom prst="rect">
            <a:avLst/>
          </a:prstGeom>
          <a:solidFill>
            <a:srgbClr val="FF6B35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964406" y="2321719"/>
            <a:ext cx="35719" cy="257175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/>
          <p:nvPr/>
        </p:nvSpPr>
        <p:spPr>
          <a:xfrm>
            <a:off x="964406" y="2321719"/>
            <a:ext cx="7215188" cy="25717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6B35"/>
                </a:solidFill>
              </a:rPr>
              <a:t>Project Goal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964406" y="2686050"/>
            <a:ext cx="7215188" cy="48577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The goal of this project is to predict whether a hotel booking will be canceled using various reservation and customer-related features.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14375" y="3421856"/>
            <a:ext cx="7715250" cy="7286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By analyzing booking patterns and applying machine learning classification models, we aim to identify the main factors that contribute to cancellations and build a model that can accurately classify incoming bookings as "Canceled" or "Not Canceled." This analysis can help hotels prepare better strategies for managing cancellations.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00063"/>
            <a:ext cx="80010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A237E"/>
                </a:solidFill>
              </a:rPr>
              <a:t>Dataset Overview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93006"/>
            <a:ext cx="800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7474F"/>
                </a:solidFill>
              </a:rPr>
              <a:t>Hotel Booking Demand Dataset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 from Kaggle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ECDC4"/>
                </a:solidFill>
              </a:rPr>
              <a:t>https://www.kaggle.com/datasets/jessemostipak/hotel-booking-demand</a:t>
            </a:r>
            <a:endParaRPr lang="en-US" sz="987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21669"/>
            <a:ext cx="137517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4742" y="1871663"/>
            <a:ext cx="199653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6B35"/>
                </a:solidFill>
              </a:rPr>
              <a:t>Dataset Characteristics</a:t>
            </a:r>
            <a:endParaRPr lang="en-US" sz="1193" dirty="0"/>
          </a:p>
        </p:txBody>
      </p:sp>
      <p:sp>
        <p:nvSpPr>
          <p:cNvPr id="7" name="Shape 3"/>
          <p:cNvSpPr/>
          <p:nvPr/>
        </p:nvSpPr>
        <p:spPr>
          <a:xfrm>
            <a:off x="571500" y="2257425"/>
            <a:ext cx="2571750" cy="660071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71500" y="2257425"/>
            <a:ext cx="28575" cy="660071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9" name="Text 5"/>
          <p:cNvSpPr/>
          <p:nvPr/>
        </p:nvSpPr>
        <p:spPr>
          <a:xfrm>
            <a:off x="714375" y="2364581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237E"/>
                </a:solidFill>
              </a:rPr>
              <a:t>Total Records</a:t>
            </a:r>
            <a:endParaRPr lang="en-US" sz="683" dirty="0"/>
          </a:p>
        </p:txBody>
      </p:sp>
      <p:sp>
        <p:nvSpPr>
          <p:cNvPr id="10" name="Text 6"/>
          <p:cNvSpPr/>
          <p:nvPr/>
        </p:nvSpPr>
        <p:spPr>
          <a:xfrm>
            <a:off x="714375" y="2557463"/>
            <a:ext cx="22860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119,390 booking records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3286125" y="2257425"/>
            <a:ext cx="2571750" cy="660071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3286125" y="2257425"/>
            <a:ext cx="28575" cy="660071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3" name="Text 9"/>
          <p:cNvSpPr/>
          <p:nvPr/>
        </p:nvSpPr>
        <p:spPr>
          <a:xfrm>
            <a:off x="3429000" y="2364581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237E"/>
                </a:solidFill>
              </a:rPr>
              <a:t>Hotels Covered</a:t>
            </a:r>
            <a:endParaRPr lang="en-US" sz="683" dirty="0"/>
          </a:p>
        </p:txBody>
      </p:sp>
      <p:sp>
        <p:nvSpPr>
          <p:cNvPr id="14" name="Text 10"/>
          <p:cNvSpPr/>
          <p:nvPr/>
        </p:nvSpPr>
        <p:spPr>
          <a:xfrm>
            <a:off x="3429000" y="2557463"/>
            <a:ext cx="22860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City Hotel and Resort Hotel</a:t>
            </a:r>
            <a:endParaRPr lang="en-US" sz="942" dirty="0"/>
          </a:p>
        </p:txBody>
      </p:sp>
      <p:sp>
        <p:nvSpPr>
          <p:cNvPr id="15" name="Shape 11"/>
          <p:cNvSpPr/>
          <p:nvPr/>
        </p:nvSpPr>
        <p:spPr>
          <a:xfrm>
            <a:off x="6000750" y="2257425"/>
            <a:ext cx="2571750" cy="660071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6000750" y="2257425"/>
            <a:ext cx="28575" cy="660071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7" name="Text 13"/>
          <p:cNvSpPr/>
          <p:nvPr/>
        </p:nvSpPr>
        <p:spPr>
          <a:xfrm>
            <a:off x="6143625" y="2364581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237E"/>
                </a:solidFill>
              </a:rPr>
              <a:t>Target Variable</a:t>
            </a:r>
            <a:endParaRPr lang="en-US" sz="683" dirty="0"/>
          </a:p>
        </p:txBody>
      </p:sp>
      <p:sp>
        <p:nvSpPr>
          <p:cNvPr id="18" name="Text 14"/>
          <p:cNvSpPr/>
          <p:nvPr/>
        </p:nvSpPr>
        <p:spPr>
          <a:xfrm>
            <a:off x="6143625" y="2557463"/>
            <a:ext cx="22860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is_canceled (1 = canceled, 0 = not canceled)</a:t>
            </a:r>
            <a:endParaRPr lang="en-US" sz="942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46096"/>
            <a:ext cx="157163" cy="15716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4388" y="3096090"/>
            <a:ext cx="192334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6B35"/>
                </a:solidFill>
              </a:rPr>
              <a:t>Key Features Analyzed</a:t>
            </a:r>
            <a:endParaRPr lang="en-US" sz="1193" dirty="0"/>
          </a:p>
        </p:txBody>
      </p:sp>
      <p:sp>
        <p:nvSpPr>
          <p:cNvPr id="21" name="Shape 16"/>
          <p:cNvSpPr/>
          <p:nvPr/>
        </p:nvSpPr>
        <p:spPr>
          <a:xfrm>
            <a:off x="571500" y="3481853"/>
            <a:ext cx="1935956" cy="46434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Shape 17"/>
          <p:cNvSpPr/>
          <p:nvPr/>
        </p:nvSpPr>
        <p:spPr>
          <a:xfrm>
            <a:off x="571500" y="3481853"/>
            <a:ext cx="21431" cy="46434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18"/>
          <p:cNvSpPr/>
          <p:nvPr/>
        </p:nvSpPr>
        <p:spPr>
          <a:xfrm>
            <a:off x="571500" y="3481853"/>
            <a:ext cx="1935956" cy="464344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474F"/>
                </a:solidFill>
              </a:rPr>
              <a:t>lead_time</a:t>
            </a:r>
            <a:endParaRPr lang="en-US" sz="784" dirty="0"/>
          </a:p>
        </p:txBody>
      </p:sp>
      <p:sp>
        <p:nvSpPr>
          <p:cNvPr id="24" name="Shape 19"/>
          <p:cNvSpPr/>
          <p:nvPr/>
        </p:nvSpPr>
        <p:spPr>
          <a:xfrm>
            <a:off x="2593181" y="3481853"/>
            <a:ext cx="1935956" cy="46434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Shape 20"/>
          <p:cNvSpPr/>
          <p:nvPr/>
        </p:nvSpPr>
        <p:spPr>
          <a:xfrm>
            <a:off x="2593181" y="3481853"/>
            <a:ext cx="21431" cy="46434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1"/>
          <p:cNvSpPr/>
          <p:nvPr/>
        </p:nvSpPr>
        <p:spPr>
          <a:xfrm>
            <a:off x="2593181" y="3481853"/>
            <a:ext cx="1935956" cy="464344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474F"/>
                </a:solidFill>
              </a:rPr>
              <a:t>arrival_date (year, month, week)</a:t>
            </a:r>
            <a:endParaRPr lang="en-US" sz="784" dirty="0"/>
          </a:p>
        </p:txBody>
      </p:sp>
      <p:sp>
        <p:nvSpPr>
          <p:cNvPr id="27" name="Shape 22"/>
          <p:cNvSpPr/>
          <p:nvPr/>
        </p:nvSpPr>
        <p:spPr>
          <a:xfrm>
            <a:off x="4614863" y="3481853"/>
            <a:ext cx="1935956" cy="46434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8" name="Shape 23"/>
          <p:cNvSpPr/>
          <p:nvPr/>
        </p:nvSpPr>
        <p:spPr>
          <a:xfrm>
            <a:off x="4614863" y="3481853"/>
            <a:ext cx="21431" cy="46434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Text 24"/>
          <p:cNvSpPr/>
          <p:nvPr/>
        </p:nvSpPr>
        <p:spPr>
          <a:xfrm>
            <a:off x="4614863" y="3481853"/>
            <a:ext cx="1935956" cy="464344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474F"/>
                </a:solidFill>
              </a:rPr>
              <a:t>adults, children, babies</a:t>
            </a:r>
            <a:endParaRPr lang="en-US" sz="784" dirty="0"/>
          </a:p>
        </p:txBody>
      </p:sp>
      <p:sp>
        <p:nvSpPr>
          <p:cNvPr id="30" name="Shape 25"/>
          <p:cNvSpPr/>
          <p:nvPr/>
        </p:nvSpPr>
        <p:spPr>
          <a:xfrm>
            <a:off x="6636544" y="3481853"/>
            <a:ext cx="1935956" cy="46434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1" name="Shape 26"/>
          <p:cNvSpPr/>
          <p:nvPr/>
        </p:nvSpPr>
        <p:spPr>
          <a:xfrm>
            <a:off x="6636544" y="3481853"/>
            <a:ext cx="21431" cy="46434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Text 27"/>
          <p:cNvSpPr/>
          <p:nvPr/>
        </p:nvSpPr>
        <p:spPr>
          <a:xfrm>
            <a:off x="6636544" y="3481853"/>
            <a:ext cx="1935956" cy="464344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474F"/>
                </a:solidFill>
              </a:rPr>
              <a:t>deposit_type</a:t>
            </a:r>
            <a:endParaRPr lang="en-US" sz="784" dirty="0"/>
          </a:p>
        </p:txBody>
      </p:sp>
      <p:sp>
        <p:nvSpPr>
          <p:cNvPr id="33" name="Shape 28"/>
          <p:cNvSpPr/>
          <p:nvPr/>
        </p:nvSpPr>
        <p:spPr>
          <a:xfrm>
            <a:off x="571500" y="4031921"/>
            <a:ext cx="1935956" cy="46434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4" name="Shape 29"/>
          <p:cNvSpPr/>
          <p:nvPr/>
        </p:nvSpPr>
        <p:spPr>
          <a:xfrm>
            <a:off x="571500" y="4031921"/>
            <a:ext cx="21431" cy="46434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5" name="Text 30"/>
          <p:cNvSpPr/>
          <p:nvPr/>
        </p:nvSpPr>
        <p:spPr>
          <a:xfrm>
            <a:off x="571500" y="4031921"/>
            <a:ext cx="1935956" cy="464344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474F"/>
                </a:solidFill>
              </a:rPr>
              <a:t>customer_type</a:t>
            </a:r>
            <a:endParaRPr lang="en-US" sz="784" dirty="0"/>
          </a:p>
        </p:txBody>
      </p:sp>
      <p:sp>
        <p:nvSpPr>
          <p:cNvPr id="36" name="Shape 31"/>
          <p:cNvSpPr/>
          <p:nvPr/>
        </p:nvSpPr>
        <p:spPr>
          <a:xfrm>
            <a:off x="2593181" y="4031921"/>
            <a:ext cx="1935956" cy="46434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7" name="Shape 32"/>
          <p:cNvSpPr/>
          <p:nvPr/>
        </p:nvSpPr>
        <p:spPr>
          <a:xfrm>
            <a:off x="2593181" y="4031921"/>
            <a:ext cx="21431" cy="46434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8" name="Text 33"/>
          <p:cNvSpPr/>
          <p:nvPr/>
        </p:nvSpPr>
        <p:spPr>
          <a:xfrm>
            <a:off x="2593181" y="4031921"/>
            <a:ext cx="1935956" cy="464344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474F"/>
                </a:solidFill>
              </a:rPr>
              <a:t>market_segment</a:t>
            </a:r>
            <a:endParaRPr lang="en-US" sz="784" dirty="0"/>
          </a:p>
        </p:txBody>
      </p:sp>
      <p:sp>
        <p:nvSpPr>
          <p:cNvPr id="39" name="Shape 34"/>
          <p:cNvSpPr/>
          <p:nvPr/>
        </p:nvSpPr>
        <p:spPr>
          <a:xfrm>
            <a:off x="4614863" y="4031921"/>
            <a:ext cx="1935956" cy="46434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0" name="Shape 35"/>
          <p:cNvSpPr/>
          <p:nvPr/>
        </p:nvSpPr>
        <p:spPr>
          <a:xfrm>
            <a:off x="4614863" y="4031921"/>
            <a:ext cx="21431" cy="46434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1" name="Text 36"/>
          <p:cNvSpPr/>
          <p:nvPr/>
        </p:nvSpPr>
        <p:spPr>
          <a:xfrm>
            <a:off x="4614863" y="4031921"/>
            <a:ext cx="1935956" cy="464344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474F"/>
                </a:solidFill>
              </a:rPr>
              <a:t>previous_cancellations</a:t>
            </a:r>
            <a:endParaRPr lang="en-US" sz="784" dirty="0"/>
          </a:p>
        </p:txBody>
      </p:sp>
      <p:sp>
        <p:nvSpPr>
          <p:cNvPr id="42" name="Shape 37"/>
          <p:cNvSpPr/>
          <p:nvPr/>
        </p:nvSpPr>
        <p:spPr>
          <a:xfrm>
            <a:off x="6636544" y="4031921"/>
            <a:ext cx="1935956" cy="46434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3" name="Shape 38"/>
          <p:cNvSpPr/>
          <p:nvPr/>
        </p:nvSpPr>
        <p:spPr>
          <a:xfrm>
            <a:off x="6636544" y="4031921"/>
            <a:ext cx="21431" cy="46434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4" name="Text 39"/>
          <p:cNvSpPr/>
          <p:nvPr/>
        </p:nvSpPr>
        <p:spPr>
          <a:xfrm>
            <a:off x="6636544" y="4031921"/>
            <a:ext cx="1935956" cy="464344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474F"/>
                </a:solidFill>
              </a:rPr>
              <a:t>total_of_special_requests</a:t>
            </a:r>
            <a:endParaRPr lang="en-US" sz="784" dirty="0"/>
          </a:p>
        </p:txBody>
      </p:sp>
      <p:sp>
        <p:nvSpPr>
          <p:cNvPr id="45" name="Shape 40"/>
          <p:cNvSpPr/>
          <p:nvPr/>
        </p:nvSpPr>
        <p:spPr>
          <a:xfrm>
            <a:off x="571500" y="4567075"/>
            <a:ext cx="8001000" cy="450056"/>
          </a:xfrm>
          <a:prstGeom prst="rect">
            <a:avLst/>
          </a:prstGeom>
          <a:solidFill>
            <a:srgbClr val="1A237E">
              <a:alpha val="5000"/>
            </a:srgbClr>
          </a:solidFill>
          <a:ln/>
        </p:spPr>
      </p:sp>
      <p:sp>
        <p:nvSpPr>
          <p:cNvPr id="46" name="Shape 41"/>
          <p:cNvSpPr/>
          <p:nvPr/>
        </p:nvSpPr>
        <p:spPr>
          <a:xfrm>
            <a:off x="571500" y="4567075"/>
            <a:ext cx="28575" cy="450056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7" name="Text 42"/>
          <p:cNvSpPr/>
          <p:nvPr/>
        </p:nvSpPr>
        <p:spPr>
          <a:xfrm>
            <a:off x="571500" y="4567075"/>
            <a:ext cx="8001000" cy="45005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7474F"/>
                </a:solidFill>
              </a:rPr>
              <a:t>Note: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 The dataset is clean, widely used in research, and highly suitable for classification tasks. We may work with a cleaned or filtered subset if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needed for analysis.</a:t>
            </a:r>
            <a:endParaRPr lang="en-US" sz="78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7152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A237E"/>
                </a:solidFill>
              </a:rPr>
              <a:t>Algorithms (Expected to Use)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375" y="1193006"/>
            <a:ext cx="77152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37474F"/>
                </a:solidFill>
              </a:rPr>
              <a:t>We plan to apply and compare:</a:t>
            </a:r>
            <a:endParaRPr lang="en-US" sz="1159" dirty="0"/>
          </a:p>
        </p:txBody>
      </p:sp>
      <p:sp>
        <p:nvSpPr>
          <p:cNvPr id="5" name="Shape 2"/>
          <p:cNvSpPr/>
          <p:nvPr/>
        </p:nvSpPr>
        <p:spPr>
          <a:xfrm>
            <a:off x="714375" y="1728788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72878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1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1143000" y="1714500"/>
            <a:ext cx="7286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Logistic Regression</a:t>
            </a:r>
            <a:endParaRPr lang="en-US" sz="1090" dirty="0"/>
          </a:p>
        </p:txBody>
      </p:sp>
      <p:sp>
        <p:nvSpPr>
          <p:cNvPr id="8" name="Shape 5"/>
          <p:cNvSpPr/>
          <p:nvPr/>
        </p:nvSpPr>
        <p:spPr>
          <a:xfrm>
            <a:off x="714375" y="2157413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714375" y="215741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2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1143000" y="2143125"/>
            <a:ext cx="7286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Decision Tree (CART)</a:t>
            </a:r>
            <a:endParaRPr lang="en-US" sz="1090" dirty="0"/>
          </a:p>
        </p:txBody>
      </p:sp>
      <p:sp>
        <p:nvSpPr>
          <p:cNvPr id="11" name="Shape 8"/>
          <p:cNvSpPr/>
          <p:nvPr/>
        </p:nvSpPr>
        <p:spPr>
          <a:xfrm>
            <a:off x="714375" y="2586038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714375" y="258603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3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1143000" y="2571750"/>
            <a:ext cx="7286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K-Nearest Neighbors (KNN)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714375" y="3014663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714375" y="301466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4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1143000" y="3000375"/>
            <a:ext cx="7286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Random Forest</a:t>
            </a:r>
            <a:endParaRPr lang="en-US" sz="1090" dirty="0"/>
          </a:p>
        </p:txBody>
      </p:sp>
      <p:sp>
        <p:nvSpPr>
          <p:cNvPr id="17" name="Shape 14"/>
          <p:cNvSpPr/>
          <p:nvPr/>
        </p:nvSpPr>
        <p:spPr>
          <a:xfrm>
            <a:off x="714375" y="3443288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5"/>
          <p:cNvSpPr/>
          <p:nvPr/>
        </p:nvSpPr>
        <p:spPr>
          <a:xfrm>
            <a:off x="714375" y="344328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5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1143000" y="3429000"/>
            <a:ext cx="7286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1A237E"/>
                </a:solidFill>
              </a:rPr>
              <a:t>Simple Neural Network (MLP)</a:t>
            </a:r>
            <a:endParaRPr lang="en-US" sz="1090" dirty="0"/>
          </a:p>
        </p:txBody>
      </p:sp>
      <p:sp>
        <p:nvSpPr>
          <p:cNvPr id="20" name="Shape 17"/>
          <p:cNvSpPr/>
          <p:nvPr/>
        </p:nvSpPr>
        <p:spPr>
          <a:xfrm>
            <a:off x="714375" y="3979069"/>
            <a:ext cx="7715250" cy="634343"/>
          </a:xfrm>
          <a:prstGeom prst="rect">
            <a:avLst/>
          </a:prstGeom>
          <a:solidFill>
            <a:srgbClr val="4ECDC4">
              <a:alpha val="1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928688" y="4121944"/>
            <a:ext cx="72866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Reason: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928688" y="4407694"/>
            <a:ext cx="72866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7474F"/>
                </a:solidFill>
              </a:rPr>
              <a:t>These models handle classification problems well and are taught in class or accepted for ML projects.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00063"/>
            <a:ext cx="80010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A237E"/>
                </a:solidFill>
              </a:rPr>
              <a:t>Software and Tools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300163"/>
            <a:ext cx="3911203" cy="1285875"/>
          </a:xfrm>
          <a:prstGeom prst="rect">
            <a:avLst/>
          </a:prstGeom>
          <a:solidFill>
            <a:srgbClr val="FF6B35">
              <a:alpha val="6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85813" y="1478756"/>
            <a:ext cx="285750" cy="285750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91" y="1550194"/>
            <a:ext cx="178594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8719" y="1493044"/>
            <a:ext cx="230037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Development Environment</a:t>
            </a:r>
            <a:endParaRPr lang="en-US" sz="1193" dirty="0"/>
          </a:p>
        </p:txBody>
      </p:sp>
      <p:sp>
        <p:nvSpPr>
          <p:cNvPr id="8" name="Shape 4"/>
          <p:cNvSpPr/>
          <p:nvPr/>
        </p:nvSpPr>
        <p:spPr>
          <a:xfrm>
            <a:off x="785813" y="1871663"/>
            <a:ext cx="731955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4ECDC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85813" y="1871663"/>
            <a:ext cx="731955" cy="321469"/>
          </a:xfrm>
          <a:prstGeom prst="rect">
            <a:avLst/>
          </a:prstGeom>
          <a:noFill/>
          <a:ln/>
        </p:spPr>
        <p:txBody>
          <a:bodyPr wrap="square" lIns="153035" tIns="85090" rIns="153035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7474F"/>
                </a:solidFill>
              </a:rPr>
              <a:t>Python</a:t>
            </a:r>
            <a:endParaRPr lang="en-US" sz="885" dirty="0"/>
          </a:p>
        </p:txBody>
      </p:sp>
      <p:sp>
        <p:nvSpPr>
          <p:cNvPr id="10" name="Shape 6"/>
          <p:cNvSpPr/>
          <p:nvPr/>
        </p:nvSpPr>
        <p:spPr>
          <a:xfrm>
            <a:off x="1560630" y="1871663"/>
            <a:ext cx="1394957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4ECDC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560630" y="1871663"/>
            <a:ext cx="1394957" cy="321469"/>
          </a:xfrm>
          <a:prstGeom prst="rect">
            <a:avLst/>
          </a:prstGeom>
          <a:noFill/>
          <a:ln/>
        </p:spPr>
        <p:txBody>
          <a:bodyPr wrap="square" lIns="153035" tIns="85090" rIns="153035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7474F"/>
                </a:solidFill>
              </a:rPr>
              <a:t>Jupyter Notebook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785813" y="2250281"/>
            <a:ext cx="34825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Interactive development and code execution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4661297" y="1300163"/>
            <a:ext cx="3911203" cy="1285875"/>
          </a:xfrm>
          <a:prstGeom prst="rect">
            <a:avLst/>
          </a:prstGeom>
          <a:solidFill>
            <a:srgbClr val="FF6B35">
              <a:alpha val="6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4875609" y="1478756"/>
            <a:ext cx="285750" cy="285750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047" y="1550194"/>
            <a:ext cx="142875" cy="1428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68516" y="1493044"/>
            <a:ext cx="217142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Data Processing Libraries</a:t>
            </a:r>
            <a:endParaRPr lang="en-US" sz="1193" dirty="0"/>
          </a:p>
        </p:txBody>
      </p:sp>
      <p:sp>
        <p:nvSpPr>
          <p:cNvPr id="17" name="Shape 12"/>
          <p:cNvSpPr/>
          <p:nvPr/>
        </p:nvSpPr>
        <p:spPr>
          <a:xfrm>
            <a:off x="4875609" y="1871663"/>
            <a:ext cx="743536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4ECDC4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875609" y="1871663"/>
            <a:ext cx="743536" cy="321469"/>
          </a:xfrm>
          <a:prstGeom prst="rect">
            <a:avLst/>
          </a:prstGeom>
          <a:noFill/>
          <a:ln/>
        </p:spPr>
        <p:txBody>
          <a:bodyPr wrap="square" lIns="153035" tIns="85090" rIns="153035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7474F"/>
                </a:solidFill>
              </a:rPr>
              <a:t>pandas</a:t>
            </a:r>
            <a:endParaRPr lang="en-US" sz="885" dirty="0"/>
          </a:p>
        </p:txBody>
      </p:sp>
      <p:sp>
        <p:nvSpPr>
          <p:cNvPr id="19" name="Shape 14"/>
          <p:cNvSpPr/>
          <p:nvPr/>
        </p:nvSpPr>
        <p:spPr>
          <a:xfrm>
            <a:off x="5662008" y="1871663"/>
            <a:ext cx="723081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4ECDC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662008" y="1871663"/>
            <a:ext cx="723081" cy="321469"/>
          </a:xfrm>
          <a:prstGeom prst="rect">
            <a:avLst/>
          </a:prstGeom>
          <a:noFill/>
          <a:ln/>
        </p:spPr>
        <p:txBody>
          <a:bodyPr wrap="square" lIns="153035" tIns="85090" rIns="153035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7474F"/>
                </a:solidFill>
              </a:rPr>
              <a:t>numpy</a:t>
            </a:r>
            <a:endParaRPr lang="en-US" sz="885" dirty="0"/>
          </a:p>
        </p:txBody>
      </p:sp>
      <p:sp>
        <p:nvSpPr>
          <p:cNvPr id="21" name="Text 16"/>
          <p:cNvSpPr/>
          <p:nvPr/>
        </p:nvSpPr>
        <p:spPr>
          <a:xfrm>
            <a:off x="4875609" y="2250281"/>
            <a:ext cx="34825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Data manipulation, analysis, and numerical computing</a:t>
            </a:r>
            <a:endParaRPr lang="en-US" sz="780" dirty="0"/>
          </a:p>
        </p:txBody>
      </p:sp>
      <p:sp>
        <p:nvSpPr>
          <p:cNvPr id="22" name="Shape 17"/>
          <p:cNvSpPr/>
          <p:nvPr/>
        </p:nvSpPr>
        <p:spPr>
          <a:xfrm>
            <a:off x="571500" y="2764631"/>
            <a:ext cx="3911203" cy="1285875"/>
          </a:xfrm>
          <a:prstGeom prst="rect">
            <a:avLst/>
          </a:prstGeom>
          <a:solidFill>
            <a:srgbClr val="FF6B35">
              <a:alpha val="6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785813" y="2943225"/>
            <a:ext cx="285750" cy="285750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014663"/>
            <a:ext cx="142875" cy="14287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78719" y="2957513"/>
            <a:ext cx="158404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Visualization Tools</a:t>
            </a:r>
            <a:endParaRPr lang="en-US" sz="1193" dirty="0"/>
          </a:p>
        </p:txBody>
      </p:sp>
      <p:sp>
        <p:nvSpPr>
          <p:cNvPr id="26" name="Shape 20"/>
          <p:cNvSpPr/>
          <p:nvPr/>
        </p:nvSpPr>
        <p:spPr>
          <a:xfrm>
            <a:off x="785813" y="3336131"/>
            <a:ext cx="940408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4ECDC4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85813" y="3336131"/>
            <a:ext cx="940408" cy="321469"/>
          </a:xfrm>
          <a:prstGeom prst="rect">
            <a:avLst/>
          </a:prstGeom>
          <a:noFill/>
          <a:ln/>
        </p:spPr>
        <p:txBody>
          <a:bodyPr wrap="square" lIns="153035" tIns="85090" rIns="153035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7474F"/>
                </a:solidFill>
              </a:rPr>
              <a:t>matplotlib</a:t>
            </a:r>
            <a:endParaRPr lang="en-US" sz="885" dirty="0"/>
          </a:p>
        </p:txBody>
      </p:sp>
      <p:sp>
        <p:nvSpPr>
          <p:cNvPr id="28" name="Shape 22"/>
          <p:cNvSpPr/>
          <p:nvPr/>
        </p:nvSpPr>
        <p:spPr>
          <a:xfrm>
            <a:off x="1769083" y="3336131"/>
            <a:ext cx="797533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4ECDC4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769083" y="3336131"/>
            <a:ext cx="797533" cy="321469"/>
          </a:xfrm>
          <a:prstGeom prst="rect">
            <a:avLst/>
          </a:prstGeom>
          <a:noFill/>
          <a:ln/>
        </p:spPr>
        <p:txBody>
          <a:bodyPr wrap="square" lIns="153035" tIns="85090" rIns="153035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7474F"/>
                </a:solidFill>
              </a:rPr>
              <a:t>seaborn</a:t>
            </a:r>
            <a:endParaRPr lang="en-US" sz="885" dirty="0"/>
          </a:p>
        </p:txBody>
      </p:sp>
      <p:sp>
        <p:nvSpPr>
          <p:cNvPr id="30" name="Text 24"/>
          <p:cNvSpPr/>
          <p:nvPr/>
        </p:nvSpPr>
        <p:spPr>
          <a:xfrm>
            <a:off x="785813" y="3714750"/>
            <a:ext cx="34825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Static plotting and statistical data visualization</a:t>
            </a:r>
            <a:endParaRPr lang="en-US" sz="780" dirty="0"/>
          </a:p>
        </p:txBody>
      </p:sp>
      <p:sp>
        <p:nvSpPr>
          <p:cNvPr id="31" name="Shape 25"/>
          <p:cNvSpPr/>
          <p:nvPr/>
        </p:nvSpPr>
        <p:spPr>
          <a:xfrm>
            <a:off x="4661297" y="2764631"/>
            <a:ext cx="3911203" cy="1285875"/>
          </a:xfrm>
          <a:prstGeom prst="rect">
            <a:avLst/>
          </a:prstGeom>
          <a:solidFill>
            <a:srgbClr val="FF6B35">
              <a:alpha val="6000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4875609" y="2943225"/>
            <a:ext cx="285750" cy="285750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047" y="3014663"/>
            <a:ext cx="142875" cy="14287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268516" y="2957513"/>
            <a:ext cx="25625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Machine Learning Framework</a:t>
            </a:r>
            <a:endParaRPr lang="en-US" sz="1193" dirty="0"/>
          </a:p>
        </p:txBody>
      </p:sp>
      <p:sp>
        <p:nvSpPr>
          <p:cNvPr id="35" name="Shape 28"/>
          <p:cNvSpPr/>
          <p:nvPr/>
        </p:nvSpPr>
        <p:spPr>
          <a:xfrm>
            <a:off x="4875609" y="3336131"/>
            <a:ext cx="982461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4ECDC4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875609" y="3336131"/>
            <a:ext cx="982461" cy="321469"/>
          </a:xfrm>
          <a:prstGeom prst="rect">
            <a:avLst/>
          </a:prstGeom>
          <a:noFill/>
          <a:ln/>
        </p:spPr>
        <p:txBody>
          <a:bodyPr wrap="square" lIns="153035" tIns="85090" rIns="153035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7474F"/>
                </a:solidFill>
              </a:rPr>
              <a:t>scikit-learn</a:t>
            </a:r>
            <a:endParaRPr lang="en-US" sz="885" dirty="0"/>
          </a:p>
        </p:txBody>
      </p:sp>
      <p:sp>
        <p:nvSpPr>
          <p:cNvPr id="37" name="Text 30"/>
          <p:cNvSpPr/>
          <p:nvPr/>
        </p:nvSpPr>
        <p:spPr>
          <a:xfrm>
            <a:off x="4875609" y="3714750"/>
            <a:ext cx="34825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Model training, evaluation, and preprocessing</a:t>
            </a:r>
            <a:endParaRPr lang="en-US" sz="780" dirty="0"/>
          </a:p>
        </p:txBody>
      </p:sp>
      <p:sp>
        <p:nvSpPr>
          <p:cNvPr id="38" name="Shape 31"/>
          <p:cNvSpPr/>
          <p:nvPr/>
        </p:nvSpPr>
        <p:spPr>
          <a:xfrm>
            <a:off x="571500" y="4264819"/>
            <a:ext cx="8001000" cy="500063"/>
          </a:xfrm>
          <a:prstGeom prst="rect">
            <a:avLst/>
          </a:prstGeom>
          <a:solidFill>
            <a:srgbClr val="1A237E">
              <a:alpha val="8000"/>
            </a:srgbClr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4486275"/>
            <a:ext cx="200025" cy="200025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128713" y="4489847"/>
            <a:ext cx="582489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7474F"/>
                </a:solidFill>
              </a:rPr>
              <a:t>All tools are industry-standard and widely used in data analytics and machine learning projects</a:t>
            </a:r>
            <a:endParaRPr lang="en-US" sz="88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7152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A237E"/>
                </a:solidFill>
              </a:rPr>
              <a:t>Methodology / Algorithms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375" y="1193006"/>
            <a:ext cx="77152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We will follow the CRISP-DM process: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14375" y="1657350"/>
            <a:ext cx="321469" cy="321469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657350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A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1164431" y="1671638"/>
            <a:ext cx="33182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Business Understanding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1164431" y="1928813"/>
            <a:ext cx="3318272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37474F"/>
                </a:solidFill>
              </a:rPr>
              <a:t>Understand how cancellations impact hotel revenue and why it is important to predict them early.</a:t>
            </a:r>
            <a:endParaRPr lang="en-US" sz="888" dirty="0"/>
          </a:p>
        </p:txBody>
      </p:sp>
      <p:sp>
        <p:nvSpPr>
          <p:cNvPr id="9" name="Shape 6"/>
          <p:cNvSpPr/>
          <p:nvPr/>
        </p:nvSpPr>
        <p:spPr>
          <a:xfrm>
            <a:off x="4661297" y="1657350"/>
            <a:ext cx="321469" cy="321469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0" name="Text 7"/>
          <p:cNvSpPr/>
          <p:nvPr/>
        </p:nvSpPr>
        <p:spPr>
          <a:xfrm>
            <a:off x="4661297" y="1657350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B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5111353" y="1671638"/>
            <a:ext cx="33182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Data Understanding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5111353" y="1928813"/>
            <a:ext cx="3318272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37474F"/>
                </a:solidFill>
              </a:rPr>
              <a:t>Explore data distribution. Identify cancellation trends. Analyze categorical and numerical features. Understand the relationship between variables.</a:t>
            </a:r>
            <a:endParaRPr lang="en-US" sz="888" dirty="0"/>
          </a:p>
        </p:txBody>
      </p:sp>
      <p:sp>
        <p:nvSpPr>
          <p:cNvPr id="13" name="Shape 10"/>
          <p:cNvSpPr/>
          <p:nvPr/>
        </p:nvSpPr>
        <p:spPr>
          <a:xfrm>
            <a:off x="714375" y="2653903"/>
            <a:ext cx="321469" cy="321469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1"/>
          <p:cNvSpPr/>
          <p:nvPr/>
        </p:nvSpPr>
        <p:spPr>
          <a:xfrm>
            <a:off x="714375" y="2653903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C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1164431" y="2668191"/>
            <a:ext cx="33182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Data Preparation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1164431" y="2925366"/>
            <a:ext cx="3318272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37474F"/>
                </a:solidFill>
              </a:rPr>
              <a:t>Remove missing values. Encode categorical features (One-Hot or Label Encoding). Handle outliers (if necessary). Normalize/scale features (for KNN, Neural Networks).</a:t>
            </a:r>
            <a:endParaRPr lang="en-US" sz="888" dirty="0"/>
          </a:p>
        </p:txBody>
      </p:sp>
      <p:sp>
        <p:nvSpPr>
          <p:cNvPr id="17" name="Shape 14"/>
          <p:cNvSpPr/>
          <p:nvPr/>
        </p:nvSpPr>
        <p:spPr>
          <a:xfrm>
            <a:off x="4661297" y="2653903"/>
            <a:ext cx="321469" cy="321469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8" name="Text 15"/>
          <p:cNvSpPr/>
          <p:nvPr/>
        </p:nvSpPr>
        <p:spPr>
          <a:xfrm>
            <a:off x="4661297" y="2653903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D</a:t>
            </a:r>
            <a:endParaRPr lang="en-US" sz="1090" dirty="0"/>
          </a:p>
        </p:txBody>
      </p:sp>
      <p:sp>
        <p:nvSpPr>
          <p:cNvPr id="19" name="Text 16"/>
          <p:cNvSpPr/>
          <p:nvPr/>
        </p:nvSpPr>
        <p:spPr>
          <a:xfrm>
            <a:off x="5111353" y="2668191"/>
            <a:ext cx="33182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Modeling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5111353" y="2925366"/>
            <a:ext cx="3318272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37474F"/>
                </a:solidFill>
              </a:rPr>
              <a:t>We will build and compare multiple classification algorithms: Logistic Regression, Decision Tree (CART), K-Nearest Neighbors (KNN), Random Forest Classifier, Neural Network (Simple MLP).</a:t>
            </a:r>
            <a:endParaRPr lang="en-US" sz="888" dirty="0"/>
          </a:p>
        </p:txBody>
      </p:sp>
      <p:sp>
        <p:nvSpPr>
          <p:cNvPr id="21" name="Shape 18"/>
          <p:cNvSpPr/>
          <p:nvPr/>
        </p:nvSpPr>
        <p:spPr>
          <a:xfrm>
            <a:off x="714375" y="3832622"/>
            <a:ext cx="321469" cy="321469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2" name="Text 19"/>
          <p:cNvSpPr/>
          <p:nvPr/>
        </p:nvSpPr>
        <p:spPr>
          <a:xfrm>
            <a:off x="714375" y="3832622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E</a:t>
            </a:r>
            <a:endParaRPr lang="en-US" sz="1090" dirty="0"/>
          </a:p>
        </p:txBody>
      </p:sp>
      <p:sp>
        <p:nvSpPr>
          <p:cNvPr id="23" name="Text 20"/>
          <p:cNvSpPr/>
          <p:nvPr/>
        </p:nvSpPr>
        <p:spPr>
          <a:xfrm>
            <a:off x="1164431" y="3846909"/>
            <a:ext cx="33182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Evaluation</a:t>
            </a:r>
            <a:endParaRPr lang="en-US" sz="987" dirty="0"/>
          </a:p>
        </p:txBody>
      </p:sp>
      <p:sp>
        <p:nvSpPr>
          <p:cNvPr id="24" name="Text 21"/>
          <p:cNvSpPr/>
          <p:nvPr/>
        </p:nvSpPr>
        <p:spPr>
          <a:xfrm>
            <a:off x="1164431" y="4104084"/>
            <a:ext cx="3318272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37474F"/>
                </a:solidFill>
              </a:rPr>
              <a:t>We will evaluate each model using: Accuracy, Precision, Recall, F1-score, Confusion Matrix, ROC-AUC curve (optional). The best-performing model will be selected based on evaluation metrics.</a:t>
            </a:r>
            <a:endParaRPr lang="en-US" sz="888" dirty="0"/>
          </a:p>
        </p:txBody>
      </p:sp>
      <p:sp>
        <p:nvSpPr>
          <p:cNvPr id="25" name="Shape 22"/>
          <p:cNvSpPr/>
          <p:nvPr/>
        </p:nvSpPr>
        <p:spPr>
          <a:xfrm>
            <a:off x="4661297" y="3832622"/>
            <a:ext cx="321469" cy="321469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6" name="Text 23"/>
          <p:cNvSpPr/>
          <p:nvPr/>
        </p:nvSpPr>
        <p:spPr>
          <a:xfrm>
            <a:off x="4661297" y="3832622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F</a:t>
            </a:r>
            <a:endParaRPr lang="en-US" sz="1090" dirty="0"/>
          </a:p>
        </p:txBody>
      </p:sp>
      <p:sp>
        <p:nvSpPr>
          <p:cNvPr id="27" name="Text 24"/>
          <p:cNvSpPr/>
          <p:nvPr/>
        </p:nvSpPr>
        <p:spPr>
          <a:xfrm>
            <a:off x="5111353" y="3846909"/>
            <a:ext cx="33182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Deployment / Output</a:t>
            </a:r>
            <a:endParaRPr lang="en-US" sz="987" dirty="0"/>
          </a:p>
        </p:txBody>
      </p:sp>
      <p:sp>
        <p:nvSpPr>
          <p:cNvPr id="28" name="Text 25"/>
          <p:cNvSpPr/>
          <p:nvPr/>
        </p:nvSpPr>
        <p:spPr>
          <a:xfrm>
            <a:off x="5111353" y="4104084"/>
            <a:ext cx="3318272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8" dirty="0">
                <a:solidFill>
                  <a:srgbClr val="37474F"/>
                </a:solidFill>
              </a:rPr>
              <a:t>(Conceptual only, no real deployment needed.) Show predicted cancellation probability. Provide feature importance analysis. Suggest how hotels can use the model.</a:t>
            </a:r>
            <a:endParaRPr lang="en-US" sz="88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00063"/>
            <a:ext cx="80010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A237E"/>
                </a:solidFill>
              </a:rPr>
              <a:t>Team Roles and Responsibilities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21569"/>
            <a:ext cx="8001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Collaborative approach with flexible task distribution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535906"/>
            <a:ext cx="3921919" cy="1357313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535906"/>
            <a:ext cx="3921919" cy="35719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Shape 4"/>
          <p:cNvSpPr/>
          <p:nvPr/>
        </p:nvSpPr>
        <p:spPr>
          <a:xfrm>
            <a:off x="3921919" y="1664494"/>
            <a:ext cx="357188" cy="357188"/>
          </a:xfrm>
          <a:prstGeom prst="rect">
            <a:avLst/>
          </a:prstGeom>
          <a:solidFill>
            <a:srgbClr val="1A237E">
              <a:alpha val="1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921919" y="1664494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>
                    <a:alpha val="15000"/>
                  </a:srgbClr>
                </a:solidFill>
              </a:rPr>
              <a:t>1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785813" y="1664494"/>
            <a:ext cx="3493294" cy="257175"/>
          </a:xfrm>
          <a:prstGeom prst="rect">
            <a:avLst/>
          </a:prstGeom>
          <a:noFill/>
          <a:ln/>
        </p:spPr>
        <p:txBody>
          <a:bodyPr wrap="none" lIns="0" tIns="0" rIns="510286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Data Collection &amp; Preparation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785813" y="1993106"/>
            <a:ext cx="3493294" cy="564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37474F"/>
                </a:solidFill>
              </a:rPr>
              <a:t>Download and clean dataset, handle missing values, encode categorical variables, and prepare the final cleaned dataset for analysis.</a:t>
            </a:r>
            <a:endParaRPr lang="en-US" sz="888" dirty="0"/>
          </a:p>
        </p:txBody>
      </p:sp>
      <p:sp>
        <p:nvSpPr>
          <p:cNvPr id="11" name="Shape 8"/>
          <p:cNvSpPr/>
          <p:nvPr/>
        </p:nvSpPr>
        <p:spPr>
          <a:xfrm>
            <a:off x="4650581" y="1535906"/>
            <a:ext cx="3921919" cy="1357313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650581" y="1535906"/>
            <a:ext cx="3921919" cy="3571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Shape 10"/>
          <p:cNvSpPr/>
          <p:nvPr/>
        </p:nvSpPr>
        <p:spPr>
          <a:xfrm>
            <a:off x="8001000" y="1664494"/>
            <a:ext cx="357188" cy="357188"/>
          </a:xfrm>
          <a:prstGeom prst="rect">
            <a:avLst/>
          </a:prstGeom>
          <a:solidFill>
            <a:srgbClr val="1A237E">
              <a:alpha val="1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001000" y="1664494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>
                    <a:alpha val="15000"/>
                  </a:srgbClr>
                </a:solidFill>
              </a:rPr>
              <a:t>2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4864894" y="1664494"/>
            <a:ext cx="3493294" cy="257175"/>
          </a:xfrm>
          <a:prstGeom prst="rect">
            <a:avLst/>
          </a:prstGeom>
          <a:noFill/>
          <a:ln/>
        </p:spPr>
        <p:txBody>
          <a:bodyPr wrap="none" lIns="0" tIns="0" rIns="510286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Exploratory Data Analysis (EDA)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4864894" y="1993106"/>
            <a:ext cx="3493294" cy="564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37474F"/>
                </a:solidFill>
              </a:rPr>
              <a:t>Visualize patterns, analyze cancellation trends, identify correlations between features, and understand the relationships within the data.</a:t>
            </a:r>
            <a:endParaRPr lang="en-US" sz="888" dirty="0"/>
          </a:p>
        </p:txBody>
      </p:sp>
      <p:sp>
        <p:nvSpPr>
          <p:cNvPr id="17" name="Shape 14"/>
          <p:cNvSpPr/>
          <p:nvPr/>
        </p:nvSpPr>
        <p:spPr>
          <a:xfrm>
            <a:off x="571500" y="3050381"/>
            <a:ext cx="3921919" cy="1357313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" y="3050381"/>
            <a:ext cx="3921919" cy="3571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Shape 16"/>
          <p:cNvSpPr/>
          <p:nvPr/>
        </p:nvSpPr>
        <p:spPr>
          <a:xfrm>
            <a:off x="3921919" y="3178969"/>
            <a:ext cx="357188" cy="357188"/>
          </a:xfrm>
          <a:prstGeom prst="rect">
            <a:avLst/>
          </a:prstGeom>
          <a:solidFill>
            <a:srgbClr val="1A237E">
              <a:alpha val="15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3921919" y="3178969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>
                    <a:alpha val="15000"/>
                  </a:srgbClr>
                </a:solidFill>
              </a:rPr>
              <a:t>3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785813" y="3178969"/>
            <a:ext cx="3493294" cy="514350"/>
          </a:xfrm>
          <a:prstGeom prst="rect">
            <a:avLst/>
          </a:prstGeom>
          <a:noFill/>
          <a:ln/>
        </p:spPr>
        <p:txBody>
          <a:bodyPr wrap="square" lIns="0" tIns="0" rIns="510286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Machine Learning Model Development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785813" y="3764756"/>
            <a:ext cx="3493294" cy="564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37474F"/>
                </a:solidFill>
              </a:rPr>
              <a:t>Split data into training and testing sets, train multiple classification models, tune hyperparameters, and compare model performance.</a:t>
            </a:r>
            <a:endParaRPr lang="en-US" sz="888" dirty="0"/>
          </a:p>
        </p:txBody>
      </p:sp>
      <p:sp>
        <p:nvSpPr>
          <p:cNvPr id="23" name="Shape 20"/>
          <p:cNvSpPr/>
          <p:nvPr/>
        </p:nvSpPr>
        <p:spPr>
          <a:xfrm>
            <a:off x="4650581" y="3050381"/>
            <a:ext cx="3921919" cy="1357313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4650581" y="3050381"/>
            <a:ext cx="3921919" cy="35719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5" name="Shape 22"/>
          <p:cNvSpPr/>
          <p:nvPr/>
        </p:nvSpPr>
        <p:spPr>
          <a:xfrm>
            <a:off x="8001000" y="3178969"/>
            <a:ext cx="357188" cy="357188"/>
          </a:xfrm>
          <a:prstGeom prst="rect">
            <a:avLst/>
          </a:prstGeom>
          <a:solidFill>
            <a:srgbClr val="1A237E">
              <a:alpha val="15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8001000" y="3178969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>
                    <a:alpha val="15000"/>
                  </a:srgbClr>
                </a:solidFill>
              </a:rPr>
              <a:t>4</a:t>
            </a:r>
            <a:endParaRPr lang="en-US" sz="1397" dirty="0"/>
          </a:p>
        </p:txBody>
      </p:sp>
      <p:sp>
        <p:nvSpPr>
          <p:cNvPr id="27" name="Text 24"/>
          <p:cNvSpPr/>
          <p:nvPr/>
        </p:nvSpPr>
        <p:spPr>
          <a:xfrm>
            <a:off x="4864894" y="3178969"/>
            <a:ext cx="3493294" cy="514350"/>
          </a:xfrm>
          <a:prstGeom prst="rect">
            <a:avLst/>
          </a:prstGeom>
          <a:noFill/>
          <a:ln/>
        </p:spPr>
        <p:txBody>
          <a:bodyPr wrap="square" lIns="0" tIns="0" rIns="510286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Results, Interpretation &amp; Presentation</a:t>
            </a:r>
            <a:endParaRPr lang="en-US" sz="1193" dirty="0"/>
          </a:p>
        </p:txBody>
      </p:sp>
      <p:sp>
        <p:nvSpPr>
          <p:cNvPr id="28" name="Text 25"/>
          <p:cNvSpPr/>
          <p:nvPr/>
        </p:nvSpPr>
        <p:spPr>
          <a:xfrm>
            <a:off x="4864894" y="3764756"/>
            <a:ext cx="3493294" cy="564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8" dirty="0">
                <a:solidFill>
                  <a:srgbClr val="37474F"/>
                </a:solidFill>
              </a:rPr>
              <a:t>Explain model outputs, interpret key findings, document the complete workflow, and prepare final report and presentation slides.</a:t>
            </a:r>
            <a:endParaRPr lang="en-US" sz="888" dirty="0"/>
          </a:p>
        </p:txBody>
      </p:sp>
      <p:sp>
        <p:nvSpPr>
          <p:cNvPr id="29" name="Shape 26"/>
          <p:cNvSpPr/>
          <p:nvPr/>
        </p:nvSpPr>
        <p:spPr>
          <a:xfrm>
            <a:off x="571500" y="4479131"/>
            <a:ext cx="8001000" cy="500063"/>
          </a:xfrm>
          <a:prstGeom prst="rect">
            <a:avLst/>
          </a:prstGeom>
          <a:solidFill>
            <a:srgbClr val="1A237E">
              <a:alpha val="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71500" y="4479131"/>
            <a:ext cx="35719" cy="500063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1" name="Text 28"/>
          <p:cNvSpPr/>
          <p:nvPr/>
        </p:nvSpPr>
        <p:spPr>
          <a:xfrm>
            <a:off x="750094" y="4564856"/>
            <a:ext cx="76438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Note: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750094" y="4800600"/>
            <a:ext cx="76438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Roles will be confirmed as the project progresses to ensure balanced workload.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7152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A237E"/>
                </a:solidFill>
              </a:rPr>
              <a:t>Expected Results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714375" y="1228725"/>
            <a:ext cx="77152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We expect to: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942975" y="1728788"/>
            <a:ext cx="7486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Identify major factors influencing cancellation (lead time, deposit type, special requests, customer type, etc.)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42975" y="2135981"/>
            <a:ext cx="7486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Build a model that can predict cancellation with high accuracy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42975" y="2543175"/>
            <a:ext cx="7486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Compare the performance of different ML models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42975" y="2950369"/>
            <a:ext cx="7486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Provide insights hotels can use for planning and reducing losses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2025-11-26T03:30:31Z</dcterms:created>
  <dcterms:modified xsi:type="dcterms:W3CDTF">2025-11-26T03:30:31Z</dcterms:modified>
</cp:coreProperties>
</file>