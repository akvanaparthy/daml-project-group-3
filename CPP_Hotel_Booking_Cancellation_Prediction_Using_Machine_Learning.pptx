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l kuwar" userId="d1409095f93dd1f5" providerId="LiveId" clId="{D269AD70-2F99-4FF4-9902-F352A5C76615}"/>
    <pc:docChg chg="modSld">
      <pc:chgData name="tejal kuwar" userId="d1409095f93dd1f5" providerId="LiveId" clId="{D269AD70-2F99-4FF4-9902-F352A5C76615}" dt="2025-11-30T20:43:44.704" v="2" actId="14100"/>
      <pc:docMkLst>
        <pc:docMk/>
      </pc:docMkLst>
      <pc:sldChg chg="modSp mod">
        <pc:chgData name="tejal kuwar" userId="d1409095f93dd1f5" providerId="LiveId" clId="{D269AD70-2F99-4FF4-9902-F352A5C76615}" dt="2025-11-30T20:43:44.704" v="2" actId="14100"/>
        <pc:sldMkLst>
          <pc:docMk/>
          <pc:sldMk cId="0" sldId="265"/>
        </pc:sldMkLst>
        <pc:picChg chg="mod">
          <ac:chgData name="tejal kuwar" userId="d1409095f93dd1f5" providerId="LiveId" clId="{D269AD70-2F99-4FF4-9902-F352A5C76615}" dt="2025-11-30T20:43:44.704" v="2" actId="14100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25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905" y="935106"/>
            <a:ext cx="7702162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237E"/>
                </a:solidFill>
              </a:rPr>
              <a:t>Hotel Booking Cancellation Prediction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329399" y="1700910"/>
            <a:ext cx="4485202" cy="2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b="1" dirty="0">
                <a:solidFill>
                  <a:srgbClr val="FF6B35"/>
                </a:solidFill>
              </a:rPr>
              <a:t>MIS 637 A - Data Analytics &amp; Machine Learning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43111" y="2336704"/>
            <a:ext cx="2657780" cy="224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kern="0" spc="1" dirty="0">
                <a:solidFill>
                  <a:srgbClr val="1A237E"/>
                </a:solidFill>
              </a:rPr>
              <a:t>Team Members - (Group 3):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676402" y="2693891"/>
            <a:ext cx="1791196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Tejal Rajendra Kuwar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4227354" y="3001073"/>
            <a:ext cx="689291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Bhawna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3774891" y="3308254"/>
            <a:ext cx="1594219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Akshay Vanaparthi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3727570" y="3615435"/>
            <a:ext cx="1688860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Nithin Reddy Venna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Problem Statement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407319"/>
            <a:ext cx="7715250" cy="4857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Hotel cancellations create major financial losses for hotels and make it difficult to manage room availability, staffing, and revenue forecasting.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2143125"/>
            <a:ext cx="7715250" cy="1028700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64406" y="2321719"/>
            <a:ext cx="35719" cy="257175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4406" y="2321719"/>
            <a:ext cx="7215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Project Goal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964406" y="2686050"/>
            <a:ext cx="7215188" cy="4857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The goal of this project is to predict whether a hotel booking will be canceled using various reservation and customer-related features.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4375" y="3421856"/>
            <a:ext cx="7715250" cy="7286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By analyzing booking patterns and applying machine learning classification models, we aim to identify the main factors that contribute to cancellations and build a model that can accurately classify incoming bookings as "Canceled" or "Not Canceled." This analysis can help hotels prepare better strategies for managing cancellations.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Dataset Overview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93006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Hotel Booking Demand Dataset</a:t>
            </a:r>
            <a:r>
              <a:rPr lang="en-US" sz="1050" dirty="0">
                <a:solidFill>
                  <a:srgbClr val="37474F"/>
                </a:solidFill>
              </a:rPr>
              <a:t> from Kaggle
</a:t>
            </a:r>
            <a:r>
              <a:rPr lang="en-US" sz="987" b="1" dirty="0">
                <a:solidFill>
                  <a:srgbClr val="4ECDC4"/>
                </a:solidFill>
              </a:rPr>
              <a:t>https://www.kaggle.com/datasets/jessemostipak/hotel-booking-demand</a:t>
            </a:r>
            <a:endParaRPr lang="en-US" sz="98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21669"/>
            <a:ext cx="137517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4742" y="1871663"/>
            <a:ext cx="19965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Dataset Characteristics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571500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14375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Total Records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714375" y="2557463"/>
            <a:ext cx="2286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119,390 booking records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286125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86125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429000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Hotels Covered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3429000" y="2557463"/>
            <a:ext cx="2286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City Hotel and Resort Hotel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6000750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00750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143625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Target Variable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6143625" y="2557463"/>
            <a:ext cx="2286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is_canceled (1 = canceled, 0 = not canceled)</a:t>
            </a:r>
            <a:endParaRPr lang="en-US" sz="942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46096"/>
            <a:ext cx="157163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4388" y="3096090"/>
            <a:ext cx="19233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Key Features Analyzed</a:t>
            </a:r>
            <a:endParaRPr lang="en-US" sz="1193" dirty="0"/>
          </a:p>
        </p:txBody>
      </p:sp>
      <p:sp>
        <p:nvSpPr>
          <p:cNvPr id="21" name="Shape 16"/>
          <p:cNvSpPr/>
          <p:nvPr/>
        </p:nvSpPr>
        <p:spPr>
          <a:xfrm>
            <a:off x="571500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71500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71500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lead_time</a:t>
            </a:r>
            <a:endParaRPr lang="en-US" sz="784" dirty="0"/>
          </a:p>
        </p:txBody>
      </p:sp>
      <p:sp>
        <p:nvSpPr>
          <p:cNvPr id="24" name="Shape 19"/>
          <p:cNvSpPr/>
          <p:nvPr/>
        </p:nvSpPr>
        <p:spPr>
          <a:xfrm>
            <a:off x="2593181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593181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2593181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arrival_date (year, month, week)</a:t>
            </a:r>
            <a:endParaRPr lang="en-US" sz="784" dirty="0"/>
          </a:p>
        </p:txBody>
      </p:sp>
      <p:sp>
        <p:nvSpPr>
          <p:cNvPr id="27" name="Shape 22"/>
          <p:cNvSpPr/>
          <p:nvPr/>
        </p:nvSpPr>
        <p:spPr>
          <a:xfrm>
            <a:off x="4614863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614863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614863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adults, children, babies</a:t>
            </a:r>
            <a:endParaRPr lang="en-US" sz="784" dirty="0"/>
          </a:p>
        </p:txBody>
      </p:sp>
      <p:sp>
        <p:nvSpPr>
          <p:cNvPr id="30" name="Shape 25"/>
          <p:cNvSpPr/>
          <p:nvPr/>
        </p:nvSpPr>
        <p:spPr>
          <a:xfrm>
            <a:off x="6636544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636544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636544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deposit_type</a:t>
            </a:r>
            <a:endParaRPr lang="en-US" sz="784" dirty="0"/>
          </a:p>
        </p:txBody>
      </p:sp>
      <p:sp>
        <p:nvSpPr>
          <p:cNvPr id="33" name="Shape 28"/>
          <p:cNvSpPr/>
          <p:nvPr/>
        </p:nvSpPr>
        <p:spPr>
          <a:xfrm>
            <a:off x="571500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571500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571500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customer_type</a:t>
            </a:r>
            <a:endParaRPr lang="en-US" sz="784" dirty="0"/>
          </a:p>
        </p:txBody>
      </p:sp>
      <p:sp>
        <p:nvSpPr>
          <p:cNvPr id="36" name="Shape 31"/>
          <p:cNvSpPr/>
          <p:nvPr/>
        </p:nvSpPr>
        <p:spPr>
          <a:xfrm>
            <a:off x="2593181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2593181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2593181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market_segment</a:t>
            </a:r>
            <a:endParaRPr lang="en-US" sz="784" dirty="0"/>
          </a:p>
        </p:txBody>
      </p:sp>
      <p:sp>
        <p:nvSpPr>
          <p:cNvPr id="39" name="Shape 34"/>
          <p:cNvSpPr/>
          <p:nvPr/>
        </p:nvSpPr>
        <p:spPr>
          <a:xfrm>
            <a:off x="4614863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4614863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4614863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previous_cancellations</a:t>
            </a:r>
            <a:endParaRPr lang="en-US" sz="784" dirty="0"/>
          </a:p>
        </p:txBody>
      </p:sp>
      <p:sp>
        <p:nvSpPr>
          <p:cNvPr id="42" name="Shape 37"/>
          <p:cNvSpPr/>
          <p:nvPr/>
        </p:nvSpPr>
        <p:spPr>
          <a:xfrm>
            <a:off x="6636544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636544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6636544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total_of_special_requests</a:t>
            </a:r>
            <a:endParaRPr lang="en-US" sz="784" dirty="0"/>
          </a:p>
        </p:txBody>
      </p:sp>
      <p:sp>
        <p:nvSpPr>
          <p:cNvPr id="45" name="Shape 40"/>
          <p:cNvSpPr/>
          <p:nvPr/>
        </p:nvSpPr>
        <p:spPr>
          <a:xfrm>
            <a:off x="571500" y="4567075"/>
            <a:ext cx="8001000" cy="450056"/>
          </a:xfrm>
          <a:prstGeom prst="rect">
            <a:avLst/>
          </a:prstGeom>
          <a:solidFill>
            <a:srgbClr val="1A237E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571500" y="4567075"/>
            <a:ext cx="28575" cy="450056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571500" y="4567075"/>
            <a:ext cx="8001000" cy="4500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Note:</a:t>
            </a:r>
            <a:r>
              <a:rPr lang="en-US" sz="834" dirty="0">
                <a:solidFill>
                  <a:srgbClr val="37474F"/>
                </a:solidFill>
              </a:rPr>
              <a:t> The dataset is clean, widely used in research, and highly suitable for classification tasks. We may work with a cleaned or filtered subset if needed for analysis.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Algorithms (Expected to Use)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93006"/>
            <a:ext cx="7715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We plan to apply and compare: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714375" y="172878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17287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143000" y="171450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Logistic Regression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714375" y="215741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4375" y="21574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1143000" y="2143125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Decision Tree (CART)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714375" y="258603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4375" y="25860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143000" y="257175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K-Nearest Neighbors (KNN)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714375" y="301466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4375" y="30146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143000" y="3000375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Random Forest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714375" y="344328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4375" y="34432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5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143000" y="342900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Simple Neural Network (MLP)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714375" y="3979069"/>
            <a:ext cx="7715250" cy="634343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8688" y="4121944"/>
            <a:ext cx="7286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Reason: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928688" y="4407694"/>
            <a:ext cx="72866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These models handle classification problems well and are taught in class or accepted for ML projects.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Software and Tools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00163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5813" y="1478756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91" y="1550194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493044"/>
            <a:ext cx="23003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Development Environment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785813" y="1871663"/>
            <a:ext cx="731955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85813" y="1871663"/>
            <a:ext cx="731955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Python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1560630" y="1871663"/>
            <a:ext cx="1394957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560630" y="1871663"/>
            <a:ext cx="1394957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Jupyter Notebook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785813" y="2250281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Interactive development and code execution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4661297" y="1300163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75609" y="1478756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47" y="1550194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8516" y="1493044"/>
            <a:ext cx="21714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Data Processing Libraries</a:t>
            </a:r>
            <a:endParaRPr lang="en-US" sz="1193" dirty="0"/>
          </a:p>
        </p:txBody>
      </p:sp>
      <p:sp>
        <p:nvSpPr>
          <p:cNvPr id="17" name="Shape 12"/>
          <p:cNvSpPr/>
          <p:nvPr/>
        </p:nvSpPr>
        <p:spPr>
          <a:xfrm>
            <a:off x="4875609" y="1871663"/>
            <a:ext cx="743536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875609" y="1871663"/>
            <a:ext cx="743536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pandas</a:t>
            </a:r>
            <a:endParaRPr lang="en-US" sz="885" dirty="0"/>
          </a:p>
        </p:txBody>
      </p:sp>
      <p:sp>
        <p:nvSpPr>
          <p:cNvPr id="19" name="Shape 14"/>
          <p:cNvSpPr/>
          <p:nvPr/>
        </p:nvSpPr>
        <p:spPr>
          <a:xfrm>
            <a:off x="5662008" y="1871663"/>
            <a:ext cx="723081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662008" y="1871663"/>
            <a:ext cx="723081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numpy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4875609" y="2250281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Data manipulation, analysis, and numerical computing</a:t>
            </a:r>
            <a:endParaRPr lang="en-US" sz="780" dirty="0"/>
          </a:p>
        </p:txBody>
      </p:sp>
      <p:sp>
        <p:nvSpPr>
          <p:cNvPr id="22" name="Shape 17"/>
          <p:cNvSpPr/>
          <p:nvPr/>
        </p:nvSpPr>
        <p:spPr>
          <a:xfrm>
            <a:off x="571500" y="2764631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85813" y="2943225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014663"/>
            <a:ext cx="142875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8719" y="2957513"/>
            <a:ext cx="15840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Visualization Tools</a:t>
            </a:r>
            <a:endParaRPr lang="en-US" sz="1193" dirty="0"/>
          </a:p>
        </p:txBody>
      </p:sp>
      <p:sp>
        <p:nvSpPr>
          <p:cNvPr id="26" name="Shape 20"/>
          <p:cNvSpPr/>
          <p:nvPr/>
        </p:nvSpPr>
        <p:spPr>
          <a:xfrm>
            <a:off x="785813" y="3336131"/>
            <a:ext cx="940408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85813" y="3336131"/>
            <a:ext cx="940408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matplotlib</a:t>
            </a:r>
            <a:endParaRPr lang="en-US" sz="885" dirty="0"/>
          </a:p>
        </p:txBody>
      </p:sp>
      <p:sp>
        <p:nvSpPr>
          <p:cNvPr id="28" name="Shape 22"/>
          <p:cNvSpPr/>
          <p:nvPr/>
        </p:nvSpPr>
        <p:spPr>
          <a:xfrm>
            <a:off x="1769083" y="3336131"/>
            <a:ext cx="797533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1769083" y="3336131"/>
            <a:ext cx="797533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seaborn</a:t>
            </a:r>
            <a:endParaRPr lang="en-US" sz="885" dirty="0"/>
          </a:p>
        </p:txBody>
      </p:sp>
      <p:sp>
        <p:nvSpPr>
          <p:cNvPr id="30" name="Text 24"/>
          <p:cNvSpPr/>
          <p:nvPr/>
        </p:nvSpPr>
        <p:spPr>
          <a:xfrm>
            <a:off x="785813" y="3714750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Static plotting and statistical data visualization</a:t>
            </a:r>
            <a:endParaRPr lang="en-US" sz="780" dirty="0"/>
          </a:p>
        </p:txBody>
      </p:sp>
      <p:sp>
        <p:nvSpPr>
          <p:cNvPr id="31" name="Shape 25"/>
          <p:cNvSpPr/>
          <p:nvPr/>
        </p:nvSpPr>
        <p:spPr>
          <a:xfrm>
            <a:off x="4661297" y="2764631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4875609" y="2943225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7" y="3014663"/>
            <a:ext cx="142875" cy="1428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68516" y="2957513"/>
            <a:ext cx="25625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Machine Learning Framework</a:t>
            </a:r>
            <a:endParaRPr lang="en-US" sz="1193" dirty="0"/>
          </a:p>
        </p:txBody>
      </p:sp>
      <p:sp>
        <p:nvSpPr>
          <p:cNvPr id="35" name="Shape 28"/>
          <p:cNvSpPr/>
          <p:nvPr/>
        </p:nvSpPr>
        <p:spPr>
          <a:xfrm>
            <a:off x="4875609" y="3336131"/>
            <a:ext cx="982461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875609" y="3336131"/>
            <a:ext cx="982461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scikit-learn</a:t>
            </a:r>
            <a:endParaRPr lang="en-US" sz="885" dirty="0"/>
          </a:p>
        </p:txBody>
      </p:sp>
      <p:sp>
        <p:nvSpPr>
          <p:cNvPr id="37" name="Text 30"/>
          <p:cNvSpPr/>
          <p:nvPr/>
        </p:nvSpPr>
        <p:spPr>
          <a:xfrm>
            <a:off x="4875609" y="3714750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Model training, evaluation, and preprocessing</a:t>
            </a:r>
            <a:endParaRPr lang="en-US" sz="780" dirty="0"/>
          </a:p>
        </p:txBody>
      </p:sp>
      <p:sp>
        <p:nvSpPr>
          <p:cNvPr id="38" name="Shape 31"/>
          <p:cNvSpPr/>
          <p:nvPr/>
        </p:nvSpPr>
        <p:spPr>
          <a:xfrm>
            <a:off x="571500" y="4264819"/>
            <a:ext cx="8001000" cy="500063"/>
          </a:xfrm>
          <a:prstGeom prst="rect">
            <a:avLst/>
          </a:prstGeom>
          <a:solidFill>
            <a:srgbClr val="1A237E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785813" y="4489847"/>
            <a:ext cx="58248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All tools are industry-standard and widely used in data analytics and machine learning projects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Methodology / Algorithms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93006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We will follow the CRISP-DM process: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1657350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165735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1164431" y="1671638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Business Understanding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164431" y="1928813"/>
            <a:ext cx="331827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Understand how cancellations impact hotel revenue and why it is important to predict them early.</a:t>
            </a:r>
            <a:endParaRPr lang="en-US" sz="888" dirty="0"/>
          </a:p>
        </p:txBody>
      </p:sp>
      <p:sp>
        <p:nvSpPr>
          <p:cNvPr id="9" name="Shape 6"/>
          <p:cNvSpPr/>
          <p:nvPr/>
        </p:nvSpPr>
        <p:spPr>
          <a:xfrm>
            <a:off x="4661297" y="1657350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1297" y="165735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B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111353" y="1671638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Data Understanding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111353" y="1928813"/>
            <a:ext cx="3318272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Explore data distribution. Identify cancellation trends. Analyze categorical and numerical features. Understand the relationship between variables.</a:t>
            </a:r>
            <a:endParaRPr lang="en-US" sz="888" dirty="0"/>
          </a:p>
        </p:txBody>
      </p:sp>
      <p:sp>
        <p:nvSpPr>
          <p:cNvPr id="13" name="Shape 10"/>
          <p:cNvSpPr/>
          <p:nvPr/>
        </p:nvSpPr>
        <p:spPr>
          <a:xfrm>
            <a:off x="714375" y="2653903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4375" y="2653903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164431" y="2668191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Data Preparation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164431" y="2925366"/>
            <a:ext cx="3318272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Remove missing values. Encode categorical features (One-Hot or Label Encoding). Handle outliers (if necessary). Normalize/scale features (for KNN, Neural Networks).</a:t>
            </a:r>
            <a:endParaRPr lang="en-US" sz="888" dirty="0"/>
          </a:p>
        </p:txBody>
      </p:sp>
      <p:sp>
        <p:nvSpPr>
          <p:cNvPr id="17" name="Shape 14"/>
          <p:cNvSpPr/>
          <p:nvPr/>
        </p:nvSpPr>
        <p:spPr>
          <a:xfrm>
            <a:off x="4661297" y="2653903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61297" y="2653903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D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5111353" y="2668191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Modeling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111353" y="2925366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We will build and compare multiple classification algorithms: Logistic Regression, Decision Tree (CART), K-Nearest Neighbors (KNN), Random Forest Classifier, Neural Network (Simple MLP).</a:t>
            </a:r>
            <a:endParaRPr lang="en-US" sz="888" dirty="0"/>
          </a:p>
        </p:txBody>
      </p:sp>
      <p:sp>
        <p:nvSpPr>
          <p:cNvPr id="21" name="Shape 18"/>
          <p:cNvSpPr/>
          <p:nvPr/>
        </p:nvSpPr>
        <p:spPr>
          <a:xfrm>
            <a:off x="714375" y="3832622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4375" y="3832622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E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1164431" y="3846909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Evaluation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1164431" y="4104084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We will evaluate each model using: Accuracy, Precision, Recall, F1-score, Confusion Matrix, ROC-AUC curve (optional). The best-performing model will be selected based on evaluation metrics.</a:t>
            </a:r>
            <a:endParaRPr lang="en-US" sz="888" dirty="0"/>
          </a:p>
        </p:txBody>
      </p:sp>
      <p:sp>
        <p:nvSpPr>
          <p:cNvPr id="25" name="Shape 22"/>
          <p:cNvSpPr/>
          <p:nvPr/>
        </p:nvSpPr>
        <p:spPr>
          <a:xfrm>
            <a:off x="4661297" y="3832622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1297" y="3832622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5111353" y="3846909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Deployment / Output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5111353" y="4104084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(Conceptual only, no real deployment needed.) Show predicted cancellation probability. Provide feature importance analysis. Suggest how hotels can use the model.</a:t>
            </a:r>
            <a:endParaRPr lang="en-US" sz="8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Team Roles and Responsibilities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21569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Collaborative approach with flexible task distribution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35906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535906"/>
            <a:ext cx="3921919" cy="3571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921919" y="1664494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21919" y="16644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1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785813" y="1664494"/>
            <a:ext cx="3493294" cy="257175"/>
          </a:xfrm>
          <a:prstGeom prst="rect">
            <a:avLst/>
          </a:prstGeom>
          <a:noFill/>
          <a:ln/>
        </p:spPr>
        <p:txBody>
          <a:bodyPr wrap="none" lIns="0" tIns="0" rIns="510286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Data Collection &amp; Preparation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85813" y="199310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Download and clean dataset, handle missing values, encode categorical variables, and prepare the final cleaned dataset for analysis.</a:t>
            </a:r>
            <a:endParaRPr lang="en-US" sz="888" dirty="0"/>
          </a:p>
        </p:txBody>
      </p:sp>
      <p:sp>
        <p:nvSpPr>
          <p:cNvPr id="11" name="Shape 8"/>
          <p:cNvSpPr/>
          <p:nvPr/>
        </p:nvSpPr>
        <p:spPr>
          <a:xfrm>
            <a:off x="4650581" y="1535906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50581" y="1535906"/>
            <a:ext cx="3921919" cy="35719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01000" y="1664494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01000" y="16644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2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864894" y="1664494"/>
            <a:ext cx="3493294" cy="257175"/>
          </a:xfrm>
          <a:prstGeom prst="rect">
            <a:avLst/>
          </a:prstGeom>
          <a:noFill/>
          <a:ln/>
        </p:spPr>
        <p:txBody>
          <a:bodyPr wrap="none" lIns="0" tIns="0" rIns="510286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Exploratory Data Analysis (EDA)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64894" y="199310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Visualize patterns, analyze cancellation trends, identify correlations between features, and understand the relationships within the data.</a:t>
            </a:r>
            <a:endParaRPr lang="en-US" sz="888" dirty="0"/>
          </a:p>
        </p:txBody>
      </p:sp>
      <p:sp>
        <p:nvSpPr>
          <p:cNvPr id="17" name="Shape 14"/>
          <p:cNvSpPr/>
          <p:nvPr/>
        </p:nvSpPr>
        <p:spPr>
          <a:xfrm>
            <a:off x="571500" y="3050381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" y="3050381"/>
            <a:ext cx="3921919" cy="35719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921919" y="3178969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21919" y="317896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3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785813" y="3178969"/>
            <a:ext cx="3493294" cy="514350"/>
          </a:xfrm>
          <a:prstGeom prst="rect">
            <a:avLst/>
          </a:prstGeom>
          <a:noFill/>
          <a:ln/>
        </p:spPr>
        <p:txBody>
          <a:bodyPr wrap="square" lIns="0" tIns="0" rIns="510286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Machine Learning Model Development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785813" y="376475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Split data into training and testing sets, train multiple classification models, tune hyperparameters, and compare model performance.</a:t>
            </a:r>
            <a:endParaRPr lang="en-US" sz="888" dirty="0"/>
          </a:p>
        </p:txBody>
      </p:sp>
      <p:sp>
        <p:nvSpPr>
          <p:cNvPr id="23" name="Shape 20"/>
          <p:cNvSpPr/>
          <p:nvPr/>
        </p:nvSpPr>
        <p:spPr>
          <a:xfrm>
            <a:off x="4650581" y="3050381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50581" y="3050381"/>
            <a:ext cx="3921919" cy="35719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001000" y="3178969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01000" y="317896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4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864894" y="3178969"/>
            <a:ext cx="3493294" cy="514350"/>
          </a:xfrm>
          <a:prstGeom prst="rect">
            <a:avLst/>
          </a:prstGeom>
          <a:noFill/>
          <a:ln/>
        </p:spPr>
        <p:txBody>
          <a:bodyPr wrap="square" lIns="0" tIns="0" rIns="510286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Results, Interpretation &amp; Presentation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4864894" y="376475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Explain model outputs, interpret key findings, document the complete workflow, and prepare final report and presentation slides.</a:t>
            </a:r>
            <a:endParaRPr lang="en-US" sz="888" dirty="0"/>
          </a:p>
        </p:txBody>
      </p:sp>
      <p:sp>
        <p:nvSpPr>
          <p:cNvPr id="29" name="Shape 26"/>
          <p:cNvSpPr/>
          <p:nvPr/>
        </p:nvSpPr>
        <p:spPr>
          <a:xfrm>
            <a:off x="571500" y="4479131"/>
            <a:ext cx="8001000" cy="500063"/>
          </a:xfrm>
          <a:prstGeom prst="rect">
            <a:avLst/>
          </a:prstGeom>
          <a:solidFill>
            <a:srgbClr val="1A237E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1500" y="4479131"/>
            <a:ext cx="35719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0094" y="4564856"/>
            <a:ext cx="76438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Note: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750094" y="4800600"/>
            <a:ext cx="76438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Roles will be confirmed as the project progresses to ensure balanced workload.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Expected Results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228725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We expect to: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42975" y="1728788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Identify major factors influencing cancellation (lead time, deposit type, special requests, customer type, etc.)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42975" y="2135981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Build a model that can predict cancellation with high accuracy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42975" y="2543175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Compare the performance of different ML models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2975" y="2950369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Provide insights hotels can use for planning and reducing losses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251635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Completed Project Proposal (CPP)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714375" y="2123173"/>
            <a:ext cx="7715250" cy="2340192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393906" y="2123173"/>
            <a:ext cx="35719" cy="234019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375" y="2123173"/>
            <a:ext cx="35719" cy="2340192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71563" y="2442856"/>
            <a:ext cx="6518811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The dataset, algorithms, and tools for the project were already fully included in the Initial Project Proposal (IPP).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1071563" y="3187201"/>
            <a:ext cx="6980393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Therefore, the same project details from the IPP are confirmed for the Completed Project Proposal (CPP).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071563" y="3897613"/>
            <a:ext cx="7000875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We will proceed with the </a:t>
            </a:r>
            <a:r>
              <a:rPr lang="en-US" sz="1090" b="1" dirty="0">
                <a:solidFill>
                  <a:srgbClr val="FF6B35"/>
                </a:solidFill>
              </a:rPr>
              <a:t>Hotel Booking Demand dataset</a:t>
            </a:r>
            <a:r>
              <a:rPr lang="en-US" sz="1159" dirty="0">
                <a:solidFill>
                  <a:srgbClr val="37474F"/>
                </a:solidFill>
              </a:rPr>
              <a:t>, the planned </a:t>
            </a:r>
            <a:r>
              <a:rPr lang="en-US" sz="1090" b="1" dirty="0">
                <a:solidFill>
                  <a:srgbClr val="FF6B35"/>
                </a:solidFill>
              </a:rPr>
              <a:t>ML models</a:t>
            </a:r>
            <a:r>
              <a:rPr lang="en-US" sz="1159" dirty="0">
                <a:solidFill>
                  <a:srgbClr val="37474F"/>
                </a:solidFill>
              </a:rPr>
              <a:t>, and the selected </a:t>
            </a:r>
            <a:r>
              <a:rPr lang="en-US" sz="1090" b="1" dirty="0">
                <a:solidFill>
                  <a:srgbClr val="FF6B35"/>
                </a:solidFill>
              </a:rPr>
              <a:t>Python tools/environment</a:t>
            </a:r>
            <a:r>
              <a:rPr lang="en-US" sz="1159" dirty="0">
                <a:solidFill>
                  <a:srgbClr val="37474F"/>
                </a:solidFill>
              </a:rPr>
              <a:t>.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4892"/>
            <a:ext cx="9144000" cy="52683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20675" y="1878806"/>
            <a:ext cx="290265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4145" b="1" kern="0" spc="-2" dirty="0">
                <a:solidFill>
                  <a:srgbClr val="1A237E"/>
                </a:solidFill>
              </a:rPr>
              <a:t>Thank You</a:t>
            </a:r>
            <a:endParaRPr lang="en-US" sz="414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826</Words>
  <Application>Microsoft Office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tejal kuwar</cp:lastModifiedBy>
  <cp:revision>3</cp:revision>
  <dcterms:created xsi:type="dcterms:W3CDTF">2025-11-30T20:35:54Z</dcterms:created>
  <dcterms:modified xsi:type="dcterms:W3CDTF">2025-11-30T20:43:55Z</dcterms:modified>
</cp:coreProperties>
</file>